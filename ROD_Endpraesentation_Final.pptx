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0" r:id="rId2"/>
    <p:sldId id="261" r:id="rId3"/>
    <p:sldId id="262" r:id="rId4"/>
    <p:sldId id="264" r:id="rId5"/>
    <p:sldId id="267" r:id="rId6"/>
    <p:sldId id="270" r:id="rId7"/>
    <p:sldId id="271" r:id="rId8"/>
    <p:sldId id="272" r:id="rId9"/>
    <p:sldId id="274" r:id="rId10"/>
    <p:sldId id="273" r:id="rId11"/>
    <p:sldId id="275" r:id="rId12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96"/>
    <a:srgbClr val="4E45B9"/>
    <a:srgbClr val="8BB31D"/>
    <a:srgbClr val="FFBECA"/>
    <a:srgbClr val="DCD2FF"/>
    <a:srgbClr val="7277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52" autoAdjust="0"/>
    <p:restoredTop sz="65362" autoAdjust="0"/>
  </p:normalViewPr>
  <p:slideViewPr>
    <p:cSldViewPr snapToGrid="0">
      <p:cViewPr varScale="1">
        <p:scale>
          <a:sx n="95" d="100"/>
          <a:sy n="95" d="100"/>
        </p:scale>
        <p:origin x="1077" y="5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0" d="100"/>
          <a:sy n="70" d="100"/>
        </p:scale>
        <p:origin x="251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B9070-9281-4B15-842B-9B135EE24603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FC8AE-2100-403C-A265-5E8967C6F3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65233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A4CAD-2332-440A-B5F3-F5F26A7FAEC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E4289-A74F-4222-9B90-D9BDCFD3E1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0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Raini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4289-A74F-4222-9B90-D9BDCFD3E1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70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Raini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4289-A74F-4222-9B90-D9BDCFD3E1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14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Merle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4289-A74F-4222-9B90-D9BDCFD3E1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4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4289-A74F-4222-9B90-D9BDCFD3E13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05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4289-A74F-4222-9B90-D9BDCFD3E1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26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Merle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4289-A74F-4222-9B90-D9BDCFD3E13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92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endParaRPr lang="de-DE" sz="12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4289-A74F-4222-9B90-D9BDCFD3E13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57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Raini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4289-A74F-4222-9B90-D9BDCFD3E13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67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Merle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4289-A74F-4222-9B90-D9BDCFD3E13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89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Ta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EC87-611C-4FE7-801A-2BABE5B268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8963" y="3599414"/>
            <a:ext cx="5897562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</a:lstStyle>
          <a:p>
            <a:r>
              <a:rPr lang="en-US" dirty="0" err="1"/>
              <a:t>Titel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C50F5-E4A6-49CB-8F10-BB04F42894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8963" y="4294464"/>
            <a:ext cx="5897561" cy="359569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9" name="Grafik 8" descr="FH Technikum Wien - University of Applied Sciences">
            <a:extLst>
              <a:ext uri="{FF2B5EF4-FFF2-40B4-BE49-F238E27FC236}">
                <a16:creationId xmlns:a16="http://schemas.microsoft.com/office/drawing/2014/main" id="{E912822A-9B89-4584-AA9B-A21C38C240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018" y="1916907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94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Nac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86F4-3070-4C24-8038-34CAB4816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3971" y="3599413"/>
            <a:ext cx="5861296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</a:lstStyle>
          <a:p>
            <a:r>
              <a:rPr lang="de-DE" dirty="0"/>
              <a:t>Titel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16AE9FB-C334-42DE-8F45-21484CB840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41785" y="4279053"/>
            <a:ext cx="5861295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36DE48FA-9F9C-4F81-A9C6-3FAA23DE15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018" y="1916906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8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C28234-80A7-441C-9E93-EC38F62D80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3" name="Grafik 2" descr="FH Technikum Wien - University of Applied Sciences">
            <a:extLst>
              <a:ext uri="{FF2B5EF4-FFF2-40B4-BE49-F238E27FC236}">
                <a16:creationId xmlns:a16="http://schemas.microsoft.com/office/drawing/2014/main" id="{297655D6-11DD-4FCD-A16D-41373134CF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16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>
              <a:defRPr sz="2700">
                <a:solidFill>
                  <a:srgbClr val="005A96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993B6AF-0521-4A85-891D-947C2C556B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521AFF37-CD1E-46E6-AE37-FDEED49D26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7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3ED02347-5B9C-47C3-9770-0CA1C1115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084" y="3582896"/>
            <a:ext cx="5216215" cy="5319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861E06E-01BF-45E4-B05F-CDFA812E76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59084" y="4182295"/>
            <a:ext cx="5216215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3F895DB-6C5B-416C-840B-FDB951A3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01" y="-308648"/>
            <a:ext cx="7406598" cy="4166212"/>
          </a:xfrm>
          <a:prstGeom prst="rect">
            <a:avLst/>
          </a:prstGeom>
        </p:spPr>
      </p:pic>
      <p:pic>
        <p:nvPicPr>
          <p:cNvPr id="8" name="Grafik 7" descr="FH Technikum Wien - University of Applied Sciences">
            <a:extLst>
              <a:ext uri="{FF2B5EF4-FFF2-40B4-BE49-F238E27FC236}">
                <a16:creationId xmlns:a16="http://schemas.microsoft.com/office/drawing/2014/main" id="{1D30033D-611F-4A97-9A01-BE499811FC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874" y="3214292"/>
            <a:ext cx="2622133" cy="165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6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500740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72777A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4DA91-D7A9-4048-B82C-A20ED8AA6C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63034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857FD1FE-107F-4E9C-BAAF-2F91441FA8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8826" y="3208647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0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499456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005A96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247A6-7FA5-4C70-B8D4-64482CCCCA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59502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6501A466-0610-40A9-AB61-914300F4FE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11312" y="3186162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0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7532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6306D8-CDF4-4F2E-9FBD-C5E3FF89EA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1" y="607500"/>
            <a:ext cx="8775319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0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37152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85D0149-746E-4803-A83D-AA7F099F9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9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491F86-EE9A-4115-A727-4BDFC52E90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A54ADA3D-EE1E-4DDD-A462-1405A7DF6A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614" y="607500"/>
            <a:ext cx="4320000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395CAF2-D757-4B2C-A53F-C65EB56E5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13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 dirty="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68791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F425C1B-10D2-421C-8EE6-8F68F5FA0A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F34B061-0D40-4791-A41B-682280B19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7E1EF4B-A968-4425-8367-098DB2AEE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D14491A-EBBE-4FB6-8BA1-C103D150F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5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099191E-06C2-47AD-9B0A-CAC1645FCD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1FF655F9-8F0F-4E00-A8EE-9C12E170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15632" y="606217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EA78A91-4834-4955-816B-A33BE7851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41B1D30-8D96-496B-A7F3-BDA41722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A200EBB-4D2E-465A-BA44-8D8FD4CE5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44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0F4D230B-92FB-4F80-A5D8-47442699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07673A-A21E-4664-8E91-00B707F80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3828A2C-43CF-4B24-AB3D-CA11C4FC4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502DC7D-CE2C-49A4-AB84-DE425786F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29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C1810ADF-882B-4FFD-A401-52EBD2C3FF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918F80D2-235B-4BC1-AB73-F792A6E717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000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13C93F-4C12-40C1-A6ED-7A7506D85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589EC2F-2384-4108-93D2-F2F7A4384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62C44E-6AED-4204-AA3F-E6AC41528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16682" y="114303"/>
            <a:ext cx="8910638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6682" y="689434"/>
            <a:ext cx="8910638" cy="404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Überschrift 2 (Arial </a:t>
            </a:r>
            <a:r>
              <a:rPr lang="de-DE" dirty="0" err="1"/>
              <a:t>Bold</a:t>
            </a:r>
            <a:r>
              <a:rPr lang="de-DE" dirty="0"/>
              <a:t>, 28pt)</a:t>
            </a:r>
          </a:p>
          <a:p>
            <a:pPr lvl="1"/>
            <a:r>
              <a:rPr lang="de-DE" dirty="0"/>
              <a:t>Überschrift 3 (Arial </a:t>
            </a:r>
            <a:r>
              <a:rPr lang="de-DE" dirty="0" err="1"/>
              <a:t>Bold</a:t>
            </a:r>
            <a:r>
              <a:rPr lang="de-DE" dirty="0"/>
              <a:t>, 24pt)</a:t>
            </a:r>
          </a:p>
          <a:p>
            <a:pPr marL="857228" marR="0" lvl="2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18pt)</a:t>
            </a:r>
          </a:p>
          <a:p>
            <a:pPr marL="1285843" marR="0" lvl="3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16pt)</a:t>
            </a:r>
          </a:p>
          <a:p>
            <a:pPr marL="1543012" marR="0" lvl="4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E08F28-5ED9-497F-8AE1-EDBEA8C7C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93304" y="4812504"/>
            <a:ext cx="56742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5B2D6C-EFE7-43C3-BA49-A7C81C2B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066" y="4812504"/>
            <a:ext cx="48525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08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7" r:id="rId4"/>
    <p:sldLayoutId id="2147483669" r:id="rId5"/>
    <p:sldLayoutId id="2147483660" r:id="rId6"/>
    <p:sldLayoutId id="2147483659" r:id="rId7"/>
    <p:sldLayoutId id="2147483662" r:id="rId8"/>
    <p:sldLayoutId id="2147483665" r:id="rId9"/>
    <p:sldLayoutId id="2147483661" r:id="rId10"/>
    <p:sldLayoutId id="2147483666" r:id="rId11"/>
    <p:sldLayoutId id="2147483664" r:id="rId12"/>
    <p:sldLayoutId id="2147483668" r:id="rId13"/>
  </p:sldLayoutIdLst>
  <p:hf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700" b="1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375"/>
        </a:spcAft>
        <a:buClrTx/>
        <a:buSzTx/>
        <a:buFont typeface="Symbol" panose="05050102010706020507" pitchFamily="18" charset="2"/>
        <a:buChar char="-"/>
        <a:tabLst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85843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" userDrawn="1">
          <p15:clr>
            <a:srgbClr val="F26B43"/>
          </p15:clr>
        </p15:guide>
        <p15:guide id="2" orient="horz" pos="72" userDrawn="1">
          <p15:clr>
            <a:srgbClr val="F26B43"/>
          </p15:clr>
        </p15:guide>
        <p15:guide id="3" orient="horz" pos="2981" userDrawn="1">
          <p15:clr>
            <a:srgbClr val="F26B43"/>
          </p15:clr>
        </p15:guide>
        <p15:guide id="4" pos="5687" userDrawn="1">
          <p15:clr>
            <a:srgbClr val="F26B43"/>
          </p15:clr>
        </p15:guide>
        <p15:guide id="5" orient="horz" pos="1620" userDrawn="1">
          <p15:clr>
            <a:srgbClr val="F26B43"/>
          </p15:clr>
        </p15:guide>
        <p15:guide id="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1EE7A55-1D41-490E-91EF-6B1065D2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062" y="3582896"/>
            <a:ext cx="5216215" cy="531903"/>
          </a:xfrm>
        </p:spPr>
        <p:txBody>
          <a:bodyPr>
            <a:normAutofit fontScale="90000"/>
          </a:bodyPr>
          <a:lstStyle/>
          <a:p>
            <a:pPr algn="l"/>
            <a:r>
              <a:rPr lang="de-DE" sz="2200" dirty="0"/>
              <a:t>Automatisierte Montage eines Toasters</a:t>
            </a:r>
            <a:endParaRPr lang="de-DE" sz="200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441A083-FC77-4905-9200-20D18E8DD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91062" y="4238856"/>
            <a:ext cx="5216215" cy="359569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Robotermodellierung | Rehpenn &amp; Wipp | SS2026</a:t>
            </a:r>
          </a:p>
        </p:txBody>
      </p:sp>
    </p:spTree>
    <p:extLst>
      <p:ext uri="{BB962C8B-B14F-4D97-AF65-F5344CB8AC3E}">
        <p14:creationId xmlns:p14="http://schemas.microsoft.com/office/powerpoint/2010/main" val="2734687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avBg"/>
          <p:cNvSpPr/>
          <p:nvPr/>
        </p:nvSpPr>
        <p:spPr>
          <a:xfrm>
            <a:off x="0" y="0"/>
            <a:ext cx="9144000" cy="38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" name="AccentLine"/>
          <p:cNvSpPr/>
          <p:nvPr/>
        </p:nvSpPr>
        <p:spPr>
          <a:xfrm>
            <a:off x="0" y="378000"/>
            <a:ext cx="9144000" cy="28000"/>
          </a:xfrm>
          <a:prstGeom prst="rect">
            <a:avLst/>
          </a:prstGeom>
          <a:gradFill flip="none" rotWithShape="1">
            <a:gsLst>
              <a:gs pos="0">
                <a:srgbClr val="8BB31D"/>
              </a:gs>
              <a:gs pos="50000">
                <a:srgbClr val="72777A"/>
              </a:gs>
              <a:gs pos="100000">
                <a:srgbClr val="005A96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" name="Titel"/>
          <p:cNvSpPr>
            <a:spLocks noGrp="1"/>
          </p:cNvSpPr>
          <p:nvPr>
            <p:ph type="title"/>
          </p:nvPr>
        </p:nvSpPr>
        <p:spPr>
          <a:xfrm>
            <a:off x="180000" y="430000"/>
            <a:ext cx="8775320" cy="480000"/>
          </a:xfrm>
        </p:spPr>
        <p:txBody>
          <a:bodyPr>
            <a:normAutofit/>
          </a:bodyPr>
          <a:lstStyle/>
          <a:p>
            <a:r>
              <a:rPr lang="de-DE" sz="2400" b="1" dirty="0">
                <a:solidFill>
                  <a:srgbClr val="1A1A1A"/>
                </a:solidFill>
              </a:rPr>
              <a:t>Warum automatisierte Montage?</a:t>
            </a:r>
          </a:p>
        </p:txBody>
      </p:sp>
      <p:sp>
        <p:nvSpPr>
          <p:cNvPr id="22" name="TitleLine"/>
          <p:cNvSpPr/>
          <p:nvPr/>
        </p:nvSpPr>
        <p:spPr>
          <a:xfrm>
            <a:off x="180000" y="930000"/>
            <a:ext cx="877532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" name="Body"/>
          <p:cNvSpPr>
            <a:spLocks noGrp="1"/>
          </p:cNvSpPr>
          <p:nvPr>
            <p:ph type="body" sz="quarter" idx="14"/>
          </p:nvPr>
        </p:nvSpPr>
        <p:spPr>
          <a:xfrm>
            <a:off x="180001" y="980000"/>
            <a:ext cx="8775319" cy="371000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de-DE" b="1" dirty="0"/>
              <a:t>Industrielles Problem</a:t>
            </a:r>
          </a:p>
          <a:p>
            <a:pPr>
              <a:lnSpc>
                <a:spcPct val="100000"/>
              </a:lnSpc>
            </a:pPr>
            <a:r>
              <a:rPr lang="de-DE" sz="1400" dirty="0"/>
              <a:t>Wiederholende Montageaufgaben (z.B. bei Kleinelektrogeräten) binden Personal und sind fehleranfällig [1]</a:t>
            </a:r>
          </a:p>
          <a:p>
            <a:pPr>
              <a:lnSpc>
                <a:spcPct val="100000"/>
              </a:lnSpc>
            </a:pPr>
            <a:r>
              <a:rPr lang="de-DE" sz="1400" dirty="0"/>
              <a:t>Schraubprozesse brauchen stabile Taktzeiten und konstante Qualität [2]</a:t>
            </a:r>
          </a:p>
          <a:p>
            <a:pPr>
              <a:lnSpc>
                <a:spcPct val="100000"/>
              </a:lnSpc>
            </a:pPr>
            <a:r>
              <a:rPr lang="de-DE" sz="1400" dirty="0"/>
              <a:t>Variantenvielfalt und kleine Losgrößen verlangen flexible Automatisierung [3]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de-DE" b="1" dirty="0"/>
              <a:t>Lösung: flexible Zwei-Roboter Zelle </a:t>
            </a:r>
            <a:br>
              <a:rPr lang="de-DE" b="1" dirty="0"/>
            </a:br>
            <a:r>
              <a:rPr lang="en-US" sz="2400" spc="600" dirty="0"/>
              <a:t>→</a:t>
            </a:r>
            <a:r>
              <a:rPr lang="de-DE" b="1" dirty="0"/>
              <a:t>automatische Toaster-Montage</a:t>
            </a:r>
          </a:p>
          <a:p>
            <a:pPr>
              <a:lnSpc>
                <a:spcPct val="115000"/>
              </a:lnSpc>
            </a:pPr>
            <a:r>
              <a:rPr lang="de-DE" sz="1400" dirty="0"/>
              <a:t>Zwei Roboter führen gemeinsam eine Montagesequenz durch</a:t>
            </a:r>
          </a:p>
          <a:p>
            <a:pPr>
              <a:lnSpc>
                <a:spcPct val="115000"/>
              </a:lnSpc>
            </a:pPr>
            <a:r>
              <a:rPr lang="de-DE" sz="1400" dirty="0"/>
              <a:t>6-Achs-Arm: Pick &amp; Place</a:t>
            </a:r>
          </a:p>
          <a:p>
            <a:pPr>
              <a:lnSpc>
                <a:spcPct val="115000"/>
              </a:lnSpc>
            </a:pPr>
            <a:r>
              <a:rPr lang="de-DE" sz="1400" dirty="0"/>
              <a:t>SCARA: Einschrauben</a:t>
            </a:r>
            <a:endParaRPr lang="de-DE" sz="800" dirty="0"/>
          </a:p>
        </p:txBody>
      </p:sp>
      <p:sp>
        <p:nvSpPr>
          <p:cNvPr id="4" name="Ftr"/>
          <p:cNvSpPr>
            <a:spLocks noGrp="1"/>
          </p:cNvSpPr>
          <p:nvPr>
            <p:ph type="ftr" sz="quarter" idx="12"/>
          </p:nvPr>
        </p:nvSpPr>
        <p:spPr>
          <a:xfrm>
            <a:off x="2793304" y="4812504"/>
            <a:ext cx="5674248" cy="273844"/>
          </a:xfrm>
        </p:spPr>
        <p:txBody>
          <a:bodyPr/>
          <a:lstStyle/>
          <a:p>
            <a:r>
              <a:rPr lang="de-DE" sz="1100" dirty="0">
                <a:solidFill>
                  <a:srgbClr val="888780"/>
                </a:solidFill>
              </a:rPr>
              <a:t>Automatisierte Montage eines Toasters | Rehpenn &amp; Wipp | SS2026</a:t>
            </a:r>
          </a:p>
        </p:txBody>
      </p:sp>
      <p:sp>
        <p:nvSpPr>
          <p:cNvPr id="5" name="Num"/>
          <p:cNvSpPr>
            <a:spLocks noGrp="1"/>
          </p:cNvSpPr>
          <p:nvPr>
            <p:ph type="sldNum" sz="quarter" idx="13"/>
          </p:nvPr>
        </p:nvSpPr>
        <p:spPr>
          <a:xfrm>
            <a:off x="8542066" y="4812504"/>
            <a:ext cx="485255" cy="273844"/>
          </a:xfrm>
        </p:spPr>
        <p:txBody>
          <a:bodyPr/>
          <a:lstStyle/>
          <a:p>
            <a:fld id="{00000002-0002-0002-0002-000000000002}" type="slidenum">
              <a:rPr lang="de-DE" sz="1100" smtClean="0">
                <a:solidFill>
                  <a:srgbClr val="888780"/>
                </a:solidFill>
              </a:rPr>
              <a:pPr/>
              <a:t>2</a:t>
            </a:fld>
            <a:endParaRPr lang="de-DE" sz="1100">
              <a:solidFill>
                <a:srgbClr val="888780"/>
              </a:solidFill>
            </a:endParaRPr>
          </a:p>
        </p:txBody>
      </p:sp>
      <p:sp>
        <p:nvSpPr>
          <p:cNvPr id="8" name="HeaderBar">
            <a:extLst>
              <a:ext uri="{FF2B5EF4-FFF2-40B4-BE49-F238E27FC236}">
                <a16:creationId xmlns:a16="http://schemas.microsoft.com/office/drawing/2014/main" id="{0699F760-B320-CDBA-8242-7A0D542DE584}"/>
              </a:ext>
            </a:extLst>
          </p:cNvPr>
          <p:cNvSpPr/>
          <p:nvPr/>
        </p:nvSpPr>
        <p:spPr>
          <a:xfrm>
            <a:off x="0" y="0"/>
            <a:ext cx="9144000" cy="406904"/>
          </a:xfrm>
          <a:prstGeom prst="rect">
            <a:avLst/>
          </a:prstGeom>
          <a:gradFill flip="none" rotWithShape="1">
            <a:gsLst>
              <a:gs pos="0">
                <a:srgbClr val="8BB31D"/>
              </a:gs>
              <a:gs pos="50000">
                <a:srgbClr val="72777A"/>
              </a:gs>
              <a:gs pos="100000">
                <a:srgbClr val="005A96"/>
              </a:gs>
            </a:gsLst>
            <a:lin ang="0" scaled="1"/>
            <a:tileRect/>
          </a:gradFill>
          <a:ln>
            <a:noFill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9" name="NavBar">
            <a:extLst>
              <a:ext uri="{FF2B5EF4-FFF2-40B4-BE49-F238E27FC236}">
                <a16:creationId xmlns:a16="http://schemas.microsoft.com/office/drawing/2014/main" id="{5B8CCF8B-7A82-96B5-EC31-43456EC214C1}"/>
              </a:ext>
            </a:extLst>
          </p:cNvPr>
          <p:cNvSpPr txBox="1">
            <a:spLocks/>
          </p:cNvSpPr>
          <p:nvPr/>
        </p:nvSpPr>
        <p:spPr>
          <a:xfrm>
            <a:off x="180000" y="37163"/>
            <a:ext cx="8784000" cy="3697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 dirty="0" err="1">
                <a:solidFill>
                  <a:schemeClr val="bg1"/>
                </a:solidFill>
              </a:rPr>
              <a:t>Einleitung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0" dirty="0">
                <a:solidFill>
                  <a:schemeClr val="bg1"/>
                </a:solidFill>
              </a:rPr>
              <a:t>Material &amp; </a:t>
            </a:r>
            <a:r>
              <a:rPr lang="en-US" sz="2000" b="0" dirty="0" err="1">
                <a:solidFill>
                  <a:schemeClr val="bg1"/>
                </a:solidFill>
              </a:rPr>
              <a:t>Methoden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0" dirty="0" err="1">
                <a:solidFill>
                  <a:schemeClr val="bg1"/>
                </a:solidFill>
              </a:rPr>
              <a:t>Ergebnisse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0" dirty="0" err="1">
                <a:solidFill>
                  <a:schemeClr val="bg1"/>
                </a:solidFill>
              </a:rPr>
              <a:t>Diskussion</a:t>
            </a:r>
            <a:endParaRPr lang="en-US" sz="20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ccentLine"/>
          <p:cNvSpPr/>
          <p:nvPr/>
        </p:nvSpPr>
        <p:spPr>
          <a:xfrm>
            <a:off x="0" y="378000"/>
            <a:ext cx="9144000" cy="28000"/>
          </a:xfrm>
          <a:prstGeom prst="rect">
            <a:avLst/>
          </a:prstGeom>
          <a:gradFill flip="none" rotWithShape="1">
            <a:gsLst>
              <a:gs pos="0">
                <a:srgbClr val="8BB31D"/>
              </a:gs>
              <a:gs pos="50000">
                <a:srgbClr val="72777A"/>
              </a:gs>
              <a:gs pos="100000">
                <a:srgbClr val="005A96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" name="Titel"/>
          <p:cNvSpPr>
            <a:spLocks noGrp="1"/>
          </p:cNvSpPr>
          <p:nvPr>
            <p:ph type="title"/>
          </p:nvPr>
        </p:nvSpPr>
        <p:spPr>
          <a:xfrm>
            <a:off x="180000" y="430000"/>
            <a:ext cx="8775320" cy="480000"/>
          </a:xfrm>
        </p:spPr>
        <p:txBody>
          <a:bodyPr>
            <a:normAutofit/>
          </a:bodyPr>
          <a:lstStyle/>
          <a:p>
            <a:r>
              <a:rPr lang="de-DE" sz="2400" b="1" dirty="0">
                <a:solidFill>
                  <a:srgbClr val="1A1A1A"/>
                </a:solidFill>
              </a:rPr>
              <a:t>Roboter 1 – 6-Achs-Industrieroboter</a:t>
            </a:r>
          </a:p>
        </p:txBody>
      </p:sp>
      <p:sp>
        <p:nvSpPr>
          <p:cNvPr id="22" name="TitleLine"/>
          <p:cNvSpPr/>
          <p:nvPr/>
        </p:nvSpPr>
        <p:spPr>
          <a:xfrm>
            <a:off x="180000" y="930000"/>
            <a:ext cx="877532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" name="Body"/>
          <p:cNvSpPr>
            <a:spLocks noGrp="1"/>
          </p:cNvSpPr>
          <p:nvPr>
            <p:ph type="body" sz="quarter" idx="14"/>
          </p:nvPr>
        </p:nvSpPr>
        <p:spPr>
          <a:xfrm>
            <a:off x="180001" y="980000"/>
            <a:ext cx="8775319" cy="37100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de-DE" sz="1800" b="1" dirty="0">
                <a:solidFill>
                  <a:schemeClr val="accent5"/>
                </a:solidFill>
              </a:rPr>
              <a:t>Kinematik:  R – R – R – R – R – R</a:t>
            </a:r>
          </a:p>
          <a:p>
            <a:pPr>
              <a:lnSpc>
                <a:spcPct val="120000"/>
              </a:lnSpc>
            </a:pPr>
            <a:r>
              <a:rPr lang="de-DE" sz="1800" dirty="0"/>
              <a:t>6 Rotationsachsen, serielle Struktur</a:t>
            </a:r>
          </a:p>
          <a:p>
            <a:pPr>
              <a:lnSpc>
                <a:spcPct val="120000"/>
              </a:lnSpc>
            </a:pPr>
            <a:r>
              <a:rPr lang="de-DE" sz="1800" dirty="0"/>
              <a:t>6 Freiheitsgrade </a:t>
            </a:r>
            <a:br>
              <a:rPr lang="de-DE" sz="1800" dirty="0"/>
            </a:br>
            <a:r>
              <a:rPr lang="de-DE" sz="1800" dirty="0"/>
              <a:t>→ volle räumliche Orientierung des TCP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de-DE" sz="1800" b="1" dirty="0"/>
              <a:t>Endeffektor: Saugnapf-Greifer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de-DE" sz="1800" b="1" dirty="0"/>
              <a:t>Aufgaben: Pick &amp; Place</a:t>
            </a:r>
          </a:p>
          <a:p>
            <a:pPr>
              <a:lnSpc>
                <a:spcPct val="115000"/>
              </a:lnSpc>
            </a:pPr>
            <a:r>
              <a:rPr lang="de-DE" sz="1800" dirty="0"/>
              <a:t>Äußere Hülle</a:t>
            </a:r>
          </a:p>
          <a:p>
            <a:pPr>
              <a:lnSpc>
                <a:spcPct val="115000"/>
              </a:lnSpc>
            </a:pPr>
            <a:r>
              <a:rPr lang="de-DE" sz="1800" dirty="0"/>
              <a:t>Innenleben</a:t>
            </a:r>
          </a:p>
          <a:p>
            <a:pPr>
              <a:lnSpc>
                <a:spcPct val="115000"/>
              </a:lnSpc>
            </a:pPr>
            <a:r>
              <a:rPr lang="de-DE" sz="1800" dirty="0"/>
              <a:t>Zusammengesetzter Toaster</a:t>
            </a:r>
          </a:p>
          <a:p>
            <a:pPr marL="0" indent="0">
              <a:buNone/>
            </a:pPr>
            <a:endParaRPr lang="de-DE" sz="800" dirty="0"/>
          </a:p>
        </p:txBody>
      </p:sp>
      <p:sp>
        <p:nvSpPr>
          <p:cNvPr id="4" name="Ftr"/>
          <p:cNvSpPr>
            <a:spLocks noGrp="1"/>
          </p:cNvSpPr>
          <p:nvPr>
            <p:ph type="ftr" sz="quarter" idx="12"/>
          </p:nvPr>
        </p:nvSpPr>
        <p:spPr>
          <a:xfrm>
            <a:off x="2793304" y="4812504"/>
            <a:ext cx="5674248" cy="273844"/>
          </a:xfrm>
        </p:spPr>
        <p:txBody>
          <a:bodyPr/>
          <a:lstStyle/>
          <a:p>
            <a:r>
              <a:rPr lang="de-DE" sz="1100" dirty="0">
                <a:solidFill>
                  <a:srgbClr val="888780"/>
                </a:solidFill>
              </a:rPr>
              <a:t>Automatisierte Montage eines Toasters | Rehpenn &amp; Wipp | SS2026</a:t>
            </a:r>
          </a:p>
        </p:txBody>
      </p:sp>
      <p:sp>
        <p:nvSpPr>
          <p:cNvPr id="5" name="Num"/>
          <p:cNvSpPr>
            <a:spLocks noGrp="1"/>
          </p:cNvSpPr>
          <p:nvPr>
            <p:ph type="sldNum" sz="quarter" idx="13"/>
          </p:nvPr>
        </p:nvSpPr>
        <p:spPr>
          <a:xfrm>
            <a:off x="8542066" y="4812504"/>
            <a:ext cx="485255" cy="273844"/>
          </a:xfrm>
        </p:spPr>
        <p:txBody>
          <a:bodyPr/>
          <a:lstStyle/>
          <a:p>
            <a:fld id="{00000003-0003-0003-0003-000000000003}" type="slidenum">
              <a:rPr lang="de-DE" sz="1100" smtClean="0">
                <a:solidFill>
                  <a:srgbClr val="888780"/>
                </a:solidFill>
              </a:rPr>
              <a:pPr/>
              <a:t>3</a:t>
            </a:fld>
            <a:endParaRPr lang="de-DE" sz="1100">
              <a:solidFill>
                <a:srgbClr val="888780"/>
              </a:solidFill>
            </a:endParaRPr>
          </a:p>
        </p:txBody>
      </p:sp>
      <p:sp>
        <p:nvSpPr>
          <p:cNvPr id="2" name="HeaderBar">
            <a:extLst>
              <a:ext uri="{FF2B5EF4-FFF2-40B4-BE49-F238E27FC236}">
                <a16:creationId xmlns:a16="http://schemas.microsoft.com/office/drawing/2014/main" id="{A7ADD043-590B-A16C-96CD-8C82DFE9EBB6}"/>
              </a:ext>
            </a:extLst>
          </p:cNvPr>
          <p:cNvSpPr/>
          <p:nvPr/>
        </p:nvSpPr>
        <p:spPr>
          <a:xfrm>
            <a:off x="0" y="0"/>
            <a:ext cx="9144000" cy="406904"/>
          </a:xfrm>
          <a:prstGeom prst="rect">
            <a:avLst/>
          </a:prstGeom>
          <a:gradFill flip="none" rotWithShape="1">
            <a:gsLst>
              <a:gs pos="0">
                <a:srgbClr val="8BB31D"/>
              </a:gs>
              <a:gs pos="50000">
                <a:srgbClr val="72777A"/>
              </a:gs>
              <a:gs pos="100000">
                <a:srgbClr val="005A96"/>
              </a:gs>
            </a:gsLst>
            <a:lin ang="0" scaled="1"/>
            <a:tileRect/>
          </a:gradFill>
          <a:ln>
            <a:noFill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AF1A562-9CBA-EEBE-39CD-B969AD674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34" t="8528" r="16256" b="8118"/>
          <a:stretch>
            <a:fillRect/>
          </a:stretch>
        </p:blipFill>
        <p:spPr>
          <a:xfrm>
            <a:off x="5627077" y="948000"/>
            <a:ext cx="3328243" cy="3725902"/>
          </a:xfrm>
          <a:prstGeom prst="rect">
            <a:avLst/>
          </a:prstGeom>
        </p:spPr>
      </p:pic>
      <p:sp>
        <p:nvSpPr>
          <p:cNvPr id="9" name="NavBar">
            <a:extLst>
              <a:ext uri="{FF2B5EF4-FFF2-40B4-BE49-F238E27FC236}">
                <a16:creationId xmlns:a16="http://schemas.microsoft.com/office/drawing/2014/main" id="{2D91FEDF-F292-2218-66B5-FAB622022E3C}"/>
              </a:ext>
            </a:extLst>
          </p:cNvPr>
          <p:cNvSpPr txBox="1">
            <a:spLocks/>
          </p:cNvSpPr>
          <p:nvPr/>
        </p:nvSpPr>
        <p:spPr>
          <a:xfrm>
            <a:off x="180000" y="37163"/>
            <a:ext cx="8784000" cy="3697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 dirty="0" err="1">
                <a:solidFill>
                  <a:schemeClr val="bg1"/>
                </a:solidFill>
              </a:rPr>
              <a:t>Einleitung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1" dirty="0">
                <a:solidFill>
                  <a:schemeClr val="bg1"/>
                </a:solidFill>
              </a:rPr>
              <a:t>Material &amp; </a:t>
            </a:r>
            <a:r>
              <a:rPr lang="en-US" sz="2000" b="1" dirty="0" err="1">
                <a:solidFill>
                  <a:schemeClr val="bg1"/>
                </a:solidFill>
              </a:rPr>
              <a:t>Methoden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0" dirty="0" err="1">
                <a:solidFill>
                  <a:schemeClr val="bg1"/>
                </a:solidFill>
              </a:rPr>
              <a:t>Ergebnisse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0" dirty="0" err="1">
                <a:solidFill>
                  <a:schemeClr val="bg1"/>
                </a:solidFill>
              </a:rPr>
              <a:t>Diskussion</a:t>
            </a:r>
            <a:endParaRPr lang="en-US" sz="20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44DD6F71-0E6C-D3EF-2D05-4BC52F5117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7" r="7904"/>
          <a:stretch>
            <a:fillRect/>
          </a:stretch>
        </p:blipFill>
        <p:spPr>
          <a:xfrm>
            <a:off x="5266188" y="1207457"/>
            <a:ext cx="3689132" cy="3255086"/>
          </a:xfrm>
          <a:prstGeom prst="rect">
            <a:avLst/>
          </a:prstGeom>
        </p:spPr>
      </p:pic>
      <p:sp>
        <p:nvSpPr>
          <p:cNvPr id="21" name="AccentLine"/>
          <p:cNvSpPr/>
          <p:nvPr/>
        </p:nvSpPr>
        <p:spPr>
          <a:xfrm>
            <a:off x="0" y="378000"/>
            <a:ext cx="9144000" cy="28000"/>
          </a:xfrm>
          <a:prstGeom prst="rect">
            <a:avLst/>
          </a:prstGeom>
          <a:gradFill flip="none" rotWithShape="1">
            <a:gsLst>
              <a:gs pos="0">
                <a:srgbClr val="8BB31D"/>
              </a:gs>
              <a:gs pos="50000">
                <a:srgbClr val="72777A"/>
              </a:gs>
              <a:gs pos="100000">
                <a:srgbClr val="005A96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" name="Titel"/>
          <p:cNvSpPr>
            <a:spLocks noGrp="1"/>
          </p:cNvSpPr>
          <p:nvPr>
            <p:ph type="title"/>
          </p:nvPr>
        </p:nvSpPr>
        <p:spPr>
          <a:xfrm>
            <a:off x="180000" y="430000"/>
            <a:ext cx="8775320" cy="480000"/>
          </a:xfrm>
        </p:spPr>
        <p:txBody>
          <a:bodyPr>
            <a:normAutofit/>
          </a:bodyPr>
          <a:lstStyle/>
          <a:p>
            <a:r>
              <a:rPr lang="de-DE" sz="2400" b="1" dirty="0">
                <a:solidFill>
                  <a:srgbClr val="1A1A1A"/>
                </a:solidFill>
              </a:rPr>
              <a:t>Roboter 2 – SCARA-Roboter</a:t>
            </a:r>
          </a:p>
        </p:txBody>
      </p:sp>
      <p:sp>
        <p:nvSpPr>
          <p:cNvPr id="22" name="TitleLine"/>
          <p:cNvSpPr/>
          <p:nvPr/>
        </p:nvSpPr>
        <p:spPr>
          <a:xfrm>
            <a:off x="180000" y="930000"/>
            <a:ext cx="877532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" name="Body"/>
          <p:cNvSpPr>
            <a:spLocks noGrp="1"/>
          </p:cNvSpPr>
          <p:nvPr>
            <p:ph type="body" sz="quarter" idx="14"/>
          </p:nvPr>
        </p:nvSpPr>
        <p:spPr>
          <a:xfrm>
            <a:off x="180001" y="980000"/>
            <a:ext cx="8775319" cy="3710000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de-DE" sz="1800" dirty="0">
                <a:solidFill>
                  <a:srgbClr val="8BB31D"/>
                </a:solidFill>
              </a:rPr>
              <a:t>Kinematik:  R – R – P – R</a:t>
            </a:r>
            <a:endParaRPr lang="de-DE" sz="1800" dirty="0"/>
          </a:p>
          <a:p>
            <a:pPr>
              <a:lnSpc>
                <a:spcPct val="115000"/>
              </a:lnSpc>
            </a:pPr>
            <a:r>
              <a:rPr lang="de-DE" sz="1800" dirty="0"/>
              <a:t>2 Rotationsachsen für horizontale Bewegung</a:t>
            </a:r>
          </a:p>
          <a:p>
            <a:pPr>
              <a:lnSpc>
                <a:spcPct val="115000"/>
              </a:lnSpc>
            </a:pPr>
            <a:r>
              <a:rPr lang="de-DE" sz="1800" dirty="0"/>
              <a:t>1 Linearachse für vertikales Absenken </a:t>
            </a:r>
          </a:p>
          <a:p>
            <a:pPr>
              <a:lnSpc>
                <a:spcPct val="115000"/>
              </a:lnSpc>
            </a:pPr>
            <a:r>
              <a:rPr lang="de-DE" sz="1800" dirty="0"/>
              <a:t>1 Rotationsachse für den Endeffektor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de-DE" sz="1800" b="1" dirty="0"/>
              <a:t>Endeffektor: Schraubwerkzeug</a:t>
            </a:r>
            <a:endParaRPr lang="de-DE" sz="1800" dirty="0"/>
          </a:p>
          <a:p>
            <a:pPr marL="0" indent="0">
              <a:lnSpc>
                <a:spcPct val="120000"/>
              </a:lnSpc>
              <a:buNone/>
            </a:pPr>
            <a:r>
              <a:rPr lang="de-DE" sz="1800" b="1" dirty="0"/>
              <a:t>Aufgaben: Schraubsequenz</a:t>
            </a:r>
            <a:endParaRPr lang="de-DE" sz="1800" dirty="0"/>
          </a:p>
          <a:p>
            <a:pPr>
              <a:lnSpc>
                <a:spcPct val="120000"/>
              </a:lnSpc>
            </a:pPr>
            <a:r>
              <a:rPr lang="de-DE" sz="1800" dirty="0"/>
              <a:t>Absenken</a:t>
            </a:r>
          </a:p>
          <a:p>
            <a:pPr>
              <a:lnSpc>
                <a:spcPct val="120000"/>
              </a:lnSpc>
            </a:pPr>
            <a:r>
              <a:rPr lang="de-DE" sz="1800" dirty="0"/>
              <a:t>Rotieren</a:t>
            </a:r>
          </a:p>
        </p:txBody>
      </p:sp>
      <p:sp>
        <p:nvSpPr>
          <p:cNvPr id="4" name="Ftr"/>
          <p:cNvSpPr>
            <a:spLocks noGrp="1"/>
          </p:cNvSpPr>
          <p:nvPr>
            <p:ph type="ftr" sz="quarter" idx="12"/>
          </p:nvPr>
        </p:nvSpPr>
        <p:spPr>
          <a:xfrm>
            <a:off x="2793304" y="4812504"/>
            <a:ext cx="5674248" cy="273844"/>
          </a:xfrm>
        </p:spPr>
        <p:txBody>
          <a:bodyPr/>
          <a:lstStyle/>
          <a:p>
            <a:r>
              <a:rPr lang="de-DE" sz="1100" dirty="0">
                <a:solidFill>
                  <a:srgbClr val="888780"/>
                </a:solidFill>
              </a:rPr>
              <a:t>Automatisierte Montage eines Toasters | Rehpenn &amp; Wipp | SS2026</a:t>
            </a:r>
          </a:p>
        </p:txBody>
      </p:sp>
      <p:sp>
        <p:nvSpPr>
          <p:cNvPr id="5" name="Num"/>
          <p:cNvSpPr>
            <a:spLocks noGrp="1"/>
          </p:cNvSpPr>
          <p:nvPr>
            <p:ph type="sldNum" sz="quarter" idx="13"/>
          </p:nvPr>
        </p:nvSpPr>
        <p:spPr>
          <a:xfrm>
            <a:off x="8542066" y="4812504"/>
            <a:ext cx="485255" cy="273844"/>
          </a:xfrm>
        </p:spPr>
        <p:txBody>
          <a:bodyPr/>
          <a:lstStyle/>
          <a:p>
            <a:fld id="{00000004-0004-0004-0004-000000000004}" type="slidenum">
              <a:rPr lang="de-DE" sz="1100" smtClean="0">
                <a:solidFill>
                  <a:srgbClr val="888780"/>
                </a:solidFill>
              </a:rPr>
              <a:pPr/>
              <a:t>4</a:t>
            </a:fld>
            <a:endParaRPr lang="de-DE" sz="1100">
              <a:solidFill>
                <a:srgbClr val="888780"/>
              </a:solidFill>
            </a:endParaRPr>
          </a:p>
        </p:txBody>
      </p:sp>
      <p:sp>
        <p:nvSpPr>
          <p:cNvPr id="2" name="HeaderBar">
            <a:extLst>
              <a:ext uri="{FF2B5EF4-FFF2-40B4-BE49-F238E27FC236}">
                <a16:creationId xmlns:a16="http://schemas.microsoft.com/office/drawing/2014/main" id="{CCFC27BA-6327-BA85-1424-8C4224E864A9}"/>
              </a:ext>
            </a:extLst>
          </p:cNvPr>
          <p:cNvSpPr/>
          <p:nvPr/>
        </p:nvSpPr>
        <p:spPr>
          <a:xfrm>
            <a:off x="0" y="0"/>
            <a:ext cx="9144000" cy="406904"/>
          </a:xfrm>
          <a:prstGeom prst="rect">
            <a:avLst/>
          </a:prstGeom>
          <a:gradFill flip="none" rotWithShape="1">
            <a:gsLst>
              <a:gs pos="0">
                <a:srgbClr val="8BB31D"/>
              </a:gs>
              <a:gs pos="50000">
                <a:srgbClr val="72777A"/>
              </a:gs>
              <a:gs pos="100000">
                <a:srgbClr val="005A96"/>
              </a:gs>
            </a:gsLst>
            <a:lin ang="0" scaled="1"/>
            <a:tileRect/>
          </a:gradFill>
          <a:ln>
            <a:noFill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3" name="NavBar">
            <a:extLst>
              <a:ext uri="{FF2B5EF4-FFF2-40B4-BE49-F238E27FC236}">
                <a16:creationId xmlns:a16="http://schemas.microsoft.com/office/drawing/2014/main" id="{AABEE2B7-AAB3-EC22-3622-55CBA622F851}"/>
              </a:ext>
            </a:extLst>
          </p:cNvPr>
          <p:cNvSpPr txBox="1">
            <a:spLocks/>
          </p:cNvSpPr>
          <p:nvPr/>
        </p:nvSpPr>
        <p:spPr>
          <a:xfrm>
            <a:off x="180000" y="37163"/>
            <a:ext cx="8784000" cy="3697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Einleitung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1" dirty="0">
                <a:solidFill>
                  <a:schemeClr val="bg1"/>
                </a:solidFill>
              </a:rPr>
              <a:t>Material &amp; </a:t>
            </a:r>
            <a:r>
              <a:rPr lang="en-US" sz="2000" b="1" dirty="0" err="1">
                <a:solidFill>
                  <a:schemeClr val="bg1"/>
                </a:solidFill>
              </a:rPr>
              <a:t>Methoden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0" dirty="0" err="1">
                <a:solidFill>
                  <a:schemeClr val="bg1"/>
                </a:solidFill>
              </a:rPr>
              <a:t>Ergebnisse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0" dirty="0" err="1">
                <a:solidFill>
                  <a:schemeClr val="bg1"/>
                </a:solidFill>
              </a:rPr>
              <a:t>Diskussion</a:t>
            </a:r>
            <a:endParaRPr lang="en-US" sz="20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ccentLine"/>
          <p:cNvSpPr/>
          <p:nvPr/>
        </p:nvSpPr>
        <p:spPr>
          <a:xfrm>
            <a:off x="0" y="378000"/>
            <a:ext cx="9144000" cy="28000"/>
          </a:xfrm>
          <a:prstGeom prst="rect">
            <a:avLst/>
          </a:prstGeom>
          <a:gradFill flip="none" rotWithShape="1">
            <a:gsLst>
              <a:gs pos="0">
                <a:srgbClr val="8BB31D"/>
              </a:gs>
              <a:gs pos="50000">
                <a:srgbClr val="72777A"/>
              </a:gs>
              <a:gs pos="100000">
                <a:srgbClr val="005A96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" name="Titel"/>
          <p:cNvSpPr>
            <a:spLocks noGrp="1"/>
          </p:cNvSpPr>
          <p:nvPr>
            <p:ph type="title"/>
          </p:nvPr>
        </p:nvSpPr>
        <p:spPr>
          <a:xfrm>
            <a:off x="180000" y="430000"/>
            <a:ext cx="8775320" cy="430000"/>
          </a:xfrm>
        </p:spPr>
        <p:txBody>
          <a:bodyPr>
            <a:normAutofit fontScale="90000"/>
          </a:bodyPr>
          <a:lstStyle/>
          <a:p>
            <a:r>
              <a:rPr sz="3000" b="1">
                <a:solidFill>
                  <a:srgbClr val="191919"/>
                </a:solidFill>
              </a:rPr>
              <a:t>Systemarchitektur – Datenfluss</a:t>
            </a:r>
          </a:p>
        </p:txBody>
      </p:sp>
      <p:sp>
        <p:nvSpPr>
          <p:cNvPr id="22" name="TitleLine"/>
          <p:cNvSpPr/>
          <p:nvPr/>
        </p:nvSpPr>
        <p:spPr>
          <a:xfrm>
            <a:off x="180000" y="878000"/>
            <a:ext cx="877532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" name="Ftr"/>
          <p:cNvSpPr>
            <a:spLocks noGrp="1"/>
          </p:cNvSpPr>
          <p:nvPr>
            <p:ph type="ftr" sz="quarter" idx="12"/>
          </p:nvPr>
        </p:nvSpPr>
        <p:spPr>
          <a:xfrm>
            <a:off x="2793304" y="4812504"/>
            <a:ext cx="5674248" cy="273844"/>
          </a:xfrm>
        </p:spPr>
        <p:txBody>
          <a:bodyPr/>
          <a:lstStyle/>
          <a:p>
            <a:r>
              <a:rPr lang="de-DE" sz="1100" dirty="0">
                <a:solidFill>
                  <a:srgbClr val="888780"/>
                </a:solidFill>
              </a:rPr>
              <a:t>Automatisierte Montage eines Toasters | Rehpenn &amp; Wipp | SS2026</a:t>
            </a:r>
          </a:p>
        </p:txBody>
      </p:sp>
      <p:sp>
        <p:nvSpPr>
          <p:cNvPr id="5" name="Num"/>
          <p:cNvSpPr>
            <a:spLocks noGrp="1"/>
          </p:cNvSpPr>
          <p:nvPr>
            <p:ph type="sldNum" sz="quarter" idx="13"/>
          </p:nvPr>
        </p:nvSpPr>
        <p:spPr>
          <a:xfrm>
            <a:off x="8542066" y="4812504"/>
            <a:ext cx="485255" cy="273844"/>
          </a:xfrm>
        </p:spPr>
        <p:txBody>
          <a:bodyPr/>
          <a:lstStyle/>
          <a:p>
            <a:r>
              <a:rPr sz="1000">
                <a:solidFill>
                  <a:srgbClr val="787878"/>
                </a:solidFill>
              </a:rPr>
              <a:t>5</a:t>
            </a:r>
            <a:endParaRPr lang="de-DE" sz="1100">
              <a:solidFill>
                <a:srgbClr val="888780"/>
              </a:solidFill>
            </a:endParaRPr>
          </a:p>
        </p:txBody>
      </p:sp>
      <p:sp>
        <p:nvSpPr>
          <p:cNvPr id="2" name="HeaderBar">
            <a:extLst>
              <a:ext uri="{FF2B5EF4-FFF2-40B4-BE49-F238E27FC236}">
                <a16:creationId xmlns:a16="http://schemas.microsoft.com/office/drawing/2014/main" id="{2EBE7E6D-F348-B4A3-97BB-8B4E8F9D4413}"/>
              </a:ext>
            </a:extLst>
          </p:cNvPr>
          <p:cNvSpPr/>
          <p:nvPr/>
        </p:nvSpPr>
        <p:spPr>
          <a:xfrm>
            <a:off x="0" y="0"/>
            <a:ext cx="9144000" cy="406904"/>
          </a:xfrm>
          <a:prstGeom prst="rect">
            <a:avLst/>
          </a:prstGeom>
          <a:gradFill flip="none" rotWithShape="1">
            <a:gsLst>
              <a:gs pos="0">
                <a:srgbClr val="8BB31D"/>
              </a:gs>
              <a:gs pos="50000">
                <a:srgbClr val="72777A"/>
              </a:gs>
              <a:gs pos="100000">
                <a:srgbClr val="005A96"/>
              </a:gs>
            </a:gsLst>
            <a:lin ang="0" scaled="1"/>
            <a:tileRect/>
          </a:gradFill>
          <a:ln>
            <a:noFill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6" name="model_to_moveit"/>
          <p:cNvSpPr/>
          <p:nvPr/>
        </p:nvSpPr>
        <p:spPr>
          <a:xfrm>
            <a:off x="2841996" y="2143636"/>
            <a:ext cx="228600" cy="457200"/>
          </a:xfrm>
          <a:prstGeom prst="downArrow">
            <a:avLst/>
          </a:prstGeom>
          <a:solidFill>
            <a:srgbClr val="BCBCBC"/>
          </a:solidFill>
          <a:ln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model_to_gazebo"/>
          <p:cNvSpPr/>
          <p:nvPr/>
        </p:nvSpPr>
        <p:spPr>
          <a:xfrm>
            <a:off x="7990047" y="2143636"/>
            <a:ext cx="228600" cy="457200"/>
          </a:xfrm>
          <a:prstGeom prst="downArrow">
            <a:avLst/>
          </a:prstGeom>
          <a:solidFill>
            <a:srgbClr val="BCBCBC"/>
          </a:solidFill>
          <a:ln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block_cad_urdf"/>
          <p:cNvSpPr/>
          <p:nvPr/>
        </p:nvSpPr>
        <p:spPr>
          <a:xfrm>
            <a:off x="2275640" y="927999"/>
            <a:ext cx="6428232" cy="1107007"/>
          </a:xfrm>
          <a:prstGeom prst="roundRect">
            <a:avLst/>
          </a:prstGeom>
          <a:solidFill>
            <a:srgbClr val="F2F2F2"/>
          </a:solidFill>
          <a:ln w="17780">
            <a:solidFill>
              <a:srgbClr val="696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sz="1500" b="1" dirty="0">
                <a:solidFill>
                  <a:srgbClr val="696E70"/>
                </a:solidFill>
              </a:rPr>
              <a:t>CAD / URDF</a:t>
            </a:r>
            <a:endParaRPr lang="de-DE" sz="1500" b="1" dirty="0">
              <a:solidFill>
                <a:srgbClr val="696E70"/>
              </a:solidFill>
            </a:endParaRPr>
          </a:p>
          <a:p>
            <a:pPr algn="ctr"/>
            <a:r>
              <a:rPr lang="de-DE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Informationen über Geometrie, Gelenke, Kinematik und Kollisionskörper</a:t>
            </a:r>
          </a:p>
        </p:txBody>
      </p:sp>
      <p:sp>
        <p:nvSpPr>
          <p:cNvPr id="30" name="block_hmi"/>
          <p:cNvSpPr/>
          <p:nvPr/>
        </p:nvSpPr>
        <p:spPr>
          <a:xfrm>
            <a:off x="48821" y="2773803"/>
            <a:ext cx="1321378" cy="1811183"/>
          </a:xfrm>
          <a:prstGeom prst="roundRect">
            <a:avLst/>
          </a:prstGeom>
          <a:solidFill>
            <a:srgbClr val="E8F2FC"/>
          </a:solidFill>
          <a:ln w="17780">
            <a:solidFill>
              <a:srgbClr val="0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200000"/>
              </a:lnSpc>
            </a:pPr>
            <a:r>
              <a:rPr sz="1500" b="1" dirty="0">
                <a:solidFill>
                  <a:srgbClr val="0060A0"/>
                </a:solidFill>
              </a:rPr>
              <a:t>HMI</a:t>
            </a:r>
            <a:endParaRPr lang="de-DE" sz="1500" b="1" dirty="0">
              <a:solidFill>
                <a:srgbClr val="0060A0"/>
              </a:solidFill>
            </a:endParaRPr>
          </a:p>
          <a:p>
            <a:pPr algn="ctr"/>
            <a:r>
              <a:rPr lang="de-DE" sz="1200" dirty="0">
                <a:solidFill>
                  <a:srgbClr val="0060A0"/>
                </a:solidFill>
              </a:rPr>
              <a:t>Eingabe der Kommandos</a:t>
            </a:r>
          </a:p>
        </p:txBody>
      </p:sp>
      <p:sp>
        <p:nvSpPr>
          <p:cNvPr id="31" name="block_moveit"/>
          <p:cNvSpPr/>
          <p:nvPr/>
        </p:nvSpPr>
        <p:spPr>
          <a:xfrm>
            <a:off x="2242709" y="2773802"/>
            <a:ext cx="1915940" cy="1811182"/>
          </a:xfrm>
          <a:prstGeom prst="roundRect">
            <a:avLst/>
          </a:prstGeom>
          <a:solidFill>
            <a:srgbClr val="ECE9FF"/>
          </a:solidFill>
          <a:ln w="17780">
            <a:solidFill>
              <a:srgbClr val="4E4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200000"/>
              </a:lnSpc>
            </a:pPr>
            <a:r>
              <a:rPr sz="1500" b="1" dirty="0" err="1">
                <a:solidFill>
                  <a:srgbClr val="4E46B9"/>
                </a:solidFill>
              </a:rPr>
              <a:t>MoveIt</a:t>
            </a:r>
            <a:endParaRPr lang="de-DE" sz="1500" b="1" dirty="0">
              <a:solidFill>
                <a:srgbClr val="4E46B9"/>
              </a:solidFill>
            </a:endParaRPr>
          </a:p>
          <a:p>
            <a:pPr algn="ctr"/>
            <a:r>
              <a:rPr lang="de-DE" sz="1200" dirty="0">
                <a:solidFill>
                  <a:srgbClr val="4E46B9"/>
                </a:solidFill>
              </a:rPr>
              <a:t>IK + Planung + Kollisionscheck</a:t>
            </a:r>
          </a:p>
          <a:p>
            <a:pPr marL="171450" indent="-171450" algn="ctr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080" dirty="0">
                <a:solidFill>
                  <a:srgbClr val="464096"/>
                </a:solidFill>
              </a:rPr>
              <a:t>IK</a:t>
            </a:r>
            <a:r>
              <a:rPr lang="de-DE" sz="1080" dirty="0">
                <a:solidFill>
                  <a:srgbClr val="464096"/>
                </a:solidFill>
              </a:rPr>
              <a:t>-Solver</a:t>
            </a:r>
            <a:r>
              <a:rPr sz="1080" dirty="0">
                <a:solidFill>
                  <a:srgbClr val="464096"/>
                </a:solidFill>
              </a:rPr>
              <a:t>: KDL
</a:t>
            </a:r>
            <a:r>
              <a:rPr lang="de-DE" sz="1080" dirty="0">
                <a:solidFill>
                  <a:srgbClr val="464096"/>
                </a:solidFill>
              </a:rPr>
              <a:t>Path Planner: </a:t>
            </a:r>
            <a:r>
              <a:rPr lang="de-DE" sz="1050" dirty="0">
                <a:solidFill>
                  <a:srgbClr val="4E45B9"/>
                </a:solidFill>
              </a:rPr>
              <a:t>RRT Connect</a:t>
            </a:r>
          </a:p>
        </p:txBody>
      </p:sp>
      <p:sp>
        <p:nvSpPr>
          <p:cNvPr id="32" name="block_controller"/>
          <p:cNvSpPr/>
          <p:nvPr/>
        </p:nvSpPr>
        <p:spPr>
          <a:xfrm>
            <a:off x="5061151" y="2773801"/>
            <a:ext cx="1463040" cy="1811181"/>
          </a:xfrm>
          <a:prstGeom prst="roundRect">
            <a:avLst/>
          </a:prstGeom>
          <a:solidFill>
            <a:srgbClr val="E4F4EE"/>
          </a:solidFill>
          <a:ln w="17780">
            <a:solidFill>
              <a:srgbClr val="007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200000"/>
              </a:lnSpc>
            </a:pPr>
            <a:r>
              <a:rPr sz="1350" b="1" dirty="0">
                <a:solidFill>
                  <a:srgbClr val="00735F"/>
                </a:solidFill>
              </a:rPr>
              <a:t>Controller</a:t>
            </a:r>
            <a:endParaRPr lang="de-DE" sz="1350" b="1" dirty="0">
              <a:solidFill>
                <a:srgbClr val="00735F"/>
              </a:solidFill>
            </a:endParaRPr>
          </a:p>
          <a:p>
            <a:pPr algn="ctr"/>
            <a:r>
              <a:rPr lang="de-DE" sz="1200" dirty="0">
                <a:solidFill>
                  <a:srgbClr val="00735F"/>
                </a:solidFill>
              </a:rPr>
              <a:t>Umwandlung in Gelenkbefehle</a:t>
            </a:r>
            <a:endParaRPr sz="1200" dirty="0">
              <a:solidFill>
                <a:srgbClr val="00735F"/>
              </a:solidFill>
            </a:endParaRPr>
          </a:p>
          <a:p>
            <a:pPr marL="171450" indent="-171450" algn="ctr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de-DE" sz="1080" dirty="0">
                <a:solidFill>
                  <a:srgbClr val="285A52"/>
                </a:solidFill>
              </a:rPr>
              <a:t>Joint </a:t>
            </a:r>
            <a:r>
              <a:rPr lang="de-DE" sz="1080" dirty="0" err="1">
                <a:solidFill>
                  <a:srgbClr val="285A52"/>
                </a:solidFill>
              </a:rPr>
              <a:t>Trajectory</a:t>
            </a:r>
            <a:r>
              <a:rPr lang="de-DE" sz="1080" dirty="0">
                <a:solidFill>
                  <a:srgbClr val="285A52"/>
                </a:solidFill>
              </a:rPr>
              <a:t> Controller</a:t>
            </a:r>
            <a:endParaRPr sz="1080" dirty="0">
              <a:solidFill>
                <a:srgbClr val="285A52"/>
              </a:solidFill>
            </a:endParaRPr>
          </a:p>
        </p:txBody>
      </p:sp>
      <p:sp>
        <p:nvSpPr>
          <p:cNvPr id="33" name="block_gazebo"/>
          <p:cNvSpPr/>
          <p:nvPr/>
        </p:nvSpPr>
        <p:spPr>
          <a:xfrm>
            <a:off x="7399283" y="2760913"/>
            <a:ext cx="1677184" cy="1811180"/>
          </a:xfrm>
          <a:prstGeom prst="roundRect">
            <a:avLst/>
          </a:prstGeom>
          <a:solidFill>
            <a:srgbClr val="E8F2FC"/>
          </a:solidFill>
          <a:ln w="17780">
            <a:solidFill>
              <a:srgbClr val="0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200000"/>
              </a:lnSpc>
            </a:pPr>
            <a:r>
              <a:rPr sz="1500" b="1" dirty="0">
                <a:solidFill>
                  <a:srgbClr val="005A96"/>
                </a:solidFill>
              </a:rPr>
              <a:t>Gazebo</a:t>
            </a:r>
            <a:endParaRPr lang="de-DE" sz="1080" b="1" dirty="0">
              <a:solidFill>
                <a:srgbClr val="005A96"/>
              </a:solidFill>
            </a:endParaRPr>
          </a:p>
          <a:p>
            <a:pPr algn="ctr"/>
            <a:r>
              <a:rPr lang="de-DE" sz="1200" dirty="0">
                <a:solidFill>
                  <a:srgbClr val="005A96"/>
                </a:solidFill>
              </a:rPr>
              <a:t>Physikalische Simulation</a:t>
            </a: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F082BF38-7790-490A-129E-EB12914FCAC6}"/>
              </a:ext>
            </a:extLst>
          </p:cNvPr>
          <p:cNvSpPr txBox="1"/>
          <p:nvPr/>
        </p:nvSpPr>
        <p:spPr>
          <a:xfrm>
            <a:off x="2841996" y="2215208"/>
            <a:ext cx="9428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5A5A5A"/>
                </a:solidFill>
              </a:rPr>
              <a:t>Modell</a:t>
            </a:r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5F504B2A-024A-0466-ED8B-7A3CE88A4DF2}"/>
              </a:ext>
            </a:extLst>
          </p:cNvPr>
          <p:cNvSpPr txBox="1"/>
          <p:nvPr/>
        </p:nvSpPr>
        <p:spPr>
          <a:xfrm>
            <a:off x="7990047" y="2215207"/>
            <a:ext cx="9428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5A5A5A"/>
                </a:solidFill>
              </a:rPr>
              <a:t>Modell</a:t>
            </a: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63C98A98-8346-F04E-6FB5-1805DF0B7E74}"/>
              </a:ext>
            </a:extLst>
          </p:cNvPr>
          <p:cNvSpPr txBox="1"/>
          <p:nvPr/>
        </p:nvSpPr>
        <p:spPr>
          <a:xfrm>
            <a:off x="1317749" y="2955959"/>
            <a:ext cx="9428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200" b="1" dirty="0">
                <a:solidFill>
                  <a:srgbClr val="5A5A5A"/>
                </a:solidFill>
              </a:rPr>
              <a:t>Ziele</a:t>
            </a:r>
            <a:endParaRPr sz="1200" b="1" dirty="0">
              <a:solidFill>
                <a:srgbClr val="5A5A5A"/>
              </a:solidFill>
            </a:endParaRPr>
          </a:p>
        </p:txBody>
      </p:sp>
      <p:sp>
        <p:nvSpPr>
          <p:cNvPr id="11" name="TextBox 20">
            <a:extLst>
              <a:ext uri="{FF2B5EF4-FFF2-40B4-BE49-F238E27FC236}">
                <a16:creationId xmlns:a16="http://schemas.microsoft.com/office/drawing/2014/main" id="{B7985160-FE3E-84CF-0A2C-264D23B57A7C}"/>
              </a:ext>
            </a:extLst>
          </p:cNvPr>
          <p:cNvSpPr txBox="1"/>
          <p:nvPr/>
        </p:nvSpPr>
        <p:spPr>
          <a:xfrm>
            <a:off x="4012576" y="2955959"/>
            <a:ext cx="11919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200" b="1" dirty="0">
                <a:solidFill>
                  <a:srgbClr val="5A5A5A"/>
                </a:solidFill>
              </a:rPr>
              <a:t>Trajektorie</a:t>
            </a:r>
            <a:endParaRPr sz="1200" b="1" dirty="0">
              <a:solidFill>
                <a:srgbClr val="5A5A5A"/>
              </a:solidFill>
            </a:endParaRPr>
          </a:p>
        </p:txBody>
      </p:sp>
      <p:sp>
        <p:nvSpPr>
          <p:cNvPr id="12" name="TextBox 20">
            <a:extLst>
              <a:ext uri="{FF2B5EF4-FFF2-40B4-BE49-F238E27FC236}">
                <a16:creationId xmlns:a16="http://schemas.microsoft.com/office/drawing/2014/main" id="{61BCC7D8-A236-C9C6-DB61-E0DA0251445E}"/>
              </a:ext>
            </a:extLst>
          </p:cNvPr>
          <p:cNvSpPr txBox="1"/>
          <p:nvPr/>
        </p:nvSpPr>
        <p:spPr>
          <a:xfrm>
            <a:off x="6352233" y="2902350"/>
            <a:ext cx="11919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200" b="1" dirty="0">
                <a:solidFill>
                  <a:srgbClr val="5A5A5A"/>
                </a:solidFill>
              </a:rPr>
              <a:t>Befehle</a:t>
            </a:r>
            <a:endParaRPr sz="1200" b="1" dirty="0">
              <a:solidFill>
                <a:srgbClr val="5A5A5A"/>
              </a:solidFill>
            </a:endParaRPr>
          </a:p>
        </p:txBody>
      </p:sp>
      <p:sp>
        <p:nvSpPr>
          <p:cNvPr id="13" name="flow_ctrl_gazebo">
            <a:extLst>
              <a:ext uri="{FF2B5EF4-FFF2-40B4-BE49-F238E27FC236}">
                <a16:creationId xmlns:a16="http://schemas.microsoft.com/office/drawing/2014/main" id="{666C4FC9-B273-9DA4-C15E-CCB1F61DE642}"/>
              </a:ext>
            </a:extLst>
          </p:cNvPr>
          <p:cNvSpPr/>
          <p:nvPr/>
        </p:nvSpPr>
        <p:spPr>
          <a:xfrm flipH="1">
            <a:off x="6603663" y="3411922"/>
            <a:ext cx="751174" cy="276999"/>
          </a:xfrm>
          <a:prstGeom prst="rightArrow">
            <a:avLst/>
          </a:prstGeom>
          <a:solidFill>
            <a:srgbClr val="BCBCBC"/>
          </a:solidFill>
          <a:ln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20">
            <a:extLst>
              <a:ext uri="{FF2B5EF4-FFF2-40B4-BE49-F238E27FC236}">
                <a16:creationId xmlns:a16="http://schemas.microsoft.com/office/drawing/2014/main" id="{C019A583-CCD1-71D2-481E-C9B62DF506AD}"/>
              </a:ext>
            </a:extLst>
          </p:cNvPr>
          <p:cNvSpPr txBox="1"/>
          <p:nvPr/>
        </p:nvSpPr>
        <p:spPr>
          <a:xfrm>
            <a:off x="6383252" y="3701348"/>
            <a:ext cx="11919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200" b="1" dirty="0">
                <a:solidFill>
                  <a:srgbClr val="5A5A5A"/>
                </a:solidFill>
              </a:rPr>
              <a:t>Feedback</a:t>
            </a:r>
            <a:endParaRPr sz="1200" b="1" dirty="0">
              <a:solidFill>
                <a:srgbClr val="5A5A5A"/>
              </a:solidFill>
            </a:endParaRPr>
          </a:p>
        </p:txBody>
      </p:sp>
      <p:sp>
        <p:nvSpPr>
          <p:cNvPr id="15" name="flow_ctrl_gazebo">
            <a:extLst>
              <a:ext uri="{FF2B5EF4-FFF2-40B4-BE49-F238E27FC236}">
                <a16:creationId xmlns:a16="http://schemas.microsoft.com/office/drawing/2014/main" id="{4C5954FD-2A58-2880-84B5-A03A7266DA75}"/>
              </a:ext>
            </a:extLst>
          </p:cNvPr>
          <p:cNvSpPr/>
          <p:nvPr/>
        </p:nvSpPr>
        <p:spPr>
          <a:xfrm>
            <a:off x="1438306" y="3204480"/>
            <a:ext cx="751174" cy="276999"/>
          </a:xfrm>
          <a:prstGeom prst="rightArrow">
            <a:avLst/>
          </a:prstGeom>
          <a:solidFill>
            <a:srgbClr val="BCBCBC"/>
          </a:solidFill>
          <a:ln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ow_ctrl_gazebo">
            <a:extLst>
              <a:ext uri="{FF2B5EF4-FFF2-40B4-BE49-F238E27FC236}">
                <a16:creationId xmlns:a16="http://schemas.microsoft.com/office/drawing/2014/main" id="{174B32AA-9DBD-D0AA-B15B-F3CBB95BE069}"/>
              </a:ext>
            </a:extLst>
          </p:cNvPr>
          <p:cNvSpPr/>
          <p:nvPr/>
        </p:nvSpPr>
        <p:spPr>
          <a:xfrm>
            <a:off x="4251306" y="3204480"/>
            <a:ext cx="751174" cy="276999"/>
          </a:xfrm>
          <a:prstGeom prst="rightArrow">
            <a:avLst/>
          </a:prstGeom>
          <a:solidFill>
            <a:srgbClr val="BCBCBC"/>
          </a:solidFill>
          <a:ln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low_ctrl_gazebo">
            <a:extLst>
              <a:ext uri="{FF2B5EF4-FFF2-40B4-BE49-F238E27FC236}">
                <a16:creationId xmlns:a16="http://schemas.microsoft.com/office/drawing/2014/main" id="{B3D9523D-367E-B911-7D46-753BE7FB2D4F}"/>
              </a:ext>
            </a:extLst>
          </p:cNvPr>
          <p:cNvSpPr/>
          <p:nvPr/>
        </p:nvSpPr>
        <p:spPr>
          <a:xfrm>
            <a:off x="6603664" y="3126820"/>
            <a:ext cx="751174" cy="276999"/>
          </a:xfrm>
          <a:prstGeom prst="rightArrow">
            <a:avLst/>
          </a:prstGeom>
          <a:solidFill>
            <a:srgbClr val="BCBCBC"/>
          </a:solidFill>
          <a:ln>
            <a:solidFill>
              <a:srgbClr val="BC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NavBar">
            <a:extLst>
              <a:ext uri="{FF2B5EF4-FFF2-40B4-BE49-F238E27FC236}">
                <a16:creationId xmlns:a16="http://schemas.microsoft.com/office/drawing/2014/main" id="{92DED778-6A86-FC0D-0C72-439AEA92EC51}"/>
              </a:ext>
            </a:extLst>
          </p:cNvPr>
          <p:cNvSpPr txBox="1">
            <a:spLocks/>
          </p:cNvSpPr>
          <p:nvPr/>
        </p:nvSpPr>
        <p:spPr>
          <a:xfrm>
            <a:off x="180000" y="37163"/>
            <a:ext cx="8784000" cy="3697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Einleitung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1" dirty="0">
                <a:solidFill>
                  <a:schemeClr val="bg1"/>
                </a:solidFill>
              </a:rPr>
              <a:t>Material &amp; </a:t>
            </a:r>
            <a:r>
              <a:rPr lang="en-US" sz="2000" b="1" dirty="0" err="1">
                <a:solidFill>
                  <a:schemeClr val="bg1"/>
                </a:solidFill>
              </a:rPr>
              <a:t>Methoden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0" dirty="0" err="1">
                <a:solidFill>
                  <a:schemeClr val="bg1"/>
                </a:solidFill>
              </a:rPr>
              <a:t>Ergebnisse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0" dirty="0" err="1">
                <a:solidFill>
                  <a:schemeClr val="bg1"/>
                </a:solidFill>
              </a:rPr>
              <a:t>Diskussion</a:t>
            </a:r>
            <a:endParaRPr lang="en-US" sz="20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ccentLine"/>
          <p:cNvSpPr/>
          <p:nvPr/>
        </p:nvSpPr>
        <p:spPr>
          <a:xfrm>
            <a:off x="0" y="378000"/>
            <a:ext cx="9144000" cy="28000"/>
          </a:xfrm>
          <a:prstGeom prst="rect">
            <a:avLst/>
          </a:prstGeom>
          <a:gradFill flip="none" rotWithShape="1">
            <a:gsLst>
              <a:gs pos="0">
                <a:srgbClr val="8BB31D"/>
              </a:gs>
              <a:gs pos="50000">
                <a:srgbClr val="72777A"/>
              </a:gs>
              <a:gs pos="100000">
                <a:srgbClr val="005A96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" name="Titel"/>
          <p:cNvSpPr>
            <a:spLocks noGrp="1"/>
          </p:cNvSpPr>
          <p:nvPr>
            <p:ph type="title"/>
          </p:nvPr>
        </p:nvSpPr>
        <p:spPr>
          <a:xfrm>
            <a:off x="180000" y="430000"/>
            <a:ext cx="8775320" cy="480000"/>
          </a:xfrm>
        </p:spPr>
        <p:txBody>
          <a:bodyPr>
            <a:normAutofit/>
          </a:bodyPr>
          <a:lstStyle/>
          <a:p>
            <a:r>
              <a:rPr lang="de-DE" sz="2400" b="1" dirty="0">
                <a:solidFill>
                  <a:srgbClr val="1A1A1A"/>
                </a:solidFill>
              </a:rPr>
              <a:t>Simulationsumgebung &amp; Zellenaufbau</a:t>
            </a:r>
          </a:p>
        </p:txBody>
      </p:sp>
      <p:sp>
        <p:nvSpPr>
          <p:cNvPr id="22" name="TitleLine"/>
          <p:cNvSpPr/>
          <p:nvPr/>
        </p:nvSpPr>
        <p:spPr>
          <a:xfrm>
            <a:off x="180000" y="930000"/>
            <a:ext cx="877532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" name="Body"/>
          <p:cNvSpPr>
            <a:spLocks noGrp="1"/>
          </p:cNvSpPr>
          <p:nvPr>
            <p:ph type="body" sz="quarter" idx="14"/>
          </p:nvPr>
        </p:nvSpPr>
        <p:spPr>
          <a:xfrm>
            <a:off x="180001" y="980000"/>
            <a:ext cx="8775319" cy="371000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de-DE" sz="1400" dirty="0"/>
          </a:p>
        </p:txBody>
      </p:sp>
      <p:sp>
        <p:nvSpPr>
          <p:cNvPr id="4" name="Ftr"/>
          <p:cNvSpPr>
            <a:spLocks noGrp="1"/>
          </p:cNvSpPr>
          <p:nvPr>
            <p:ph type="ftr" sz="quarter" idx="12"/>
          </p:nvPr>
        </p:nvSpPr>
        <p:spPr>
          <a:xfrm>
            <a:off x="2793304" y="4812504"/>
            <a:ext cx="5674248" cy="273844"/>
          </a:xfrm>
        </p:spPr>
        <p:txBody>
          <a:bodyPr/>
          <a:lstStyle/>
          <a:p>
            <a:r>
              <a:rPr lang="de-DE" sz="1100" dirty="0">
                <a:solidFill>
                  <a:srgbClr val="888780"/>
                </a:solidFill>
              </a:rPr>
              <a:t>Automatisierte Montage eines Toasters | Rehpenn &amp; Wipp | SS2026</a:t>
            </a:r>
          </a:p>
        </p:txBody>
      </p:sp>
      <p:sp>
        <p:nvSpPr>
          <p:cNvPr id="5" name="Num"/>
          <p:cNvSpPr>
            <a:spLocks noGrp="1"/>
          </p:cNvSpPr>
          <p:nvPr>
            <p:ph type="sldNum" sz="quarter" idx="13"/>
          </p:nvPr>
        </p:nvSpPr>
        <p:spPr>
          <a:xfrm>
            <a:off x="8542066" y="4812504"/>
            <a:ext cx="485255" cy="273844"/>
          </a:xfrm>
        </p:spPr>
        <p:txBody>
          <a:bodyPr/>
          <a:lstStyle/>
          <a:p>
            <a:fld id="{00000006-0006-0006-0006-000000000006}" type="slidenum">
              <a:rPr lang="de-DE" sz="1100" smtClean="0">
                <a:solidFill>
                  <a:srgbClr val="888780"/>
                </a:solidFill>
              </a:rPr>
              <a:pPr/>
              <a:t>6</a:t>
            </a:fld>
            <a:endParaRPr lang="de-DE" sz="1100">
              <a:solidFill>
                <a:srgbClr val="888780"/>
              </a:solidFill>
            </a:endParaRPr>
          </a:p>
        </p:txBody>
      </p:sp>
      <p:sp>
        <p:nvSpPr>
          <p:cNvPr id="2" name="HeaderBar">
            <a:extLst>
              <a:ext uri="{FF2B5EF4-FFF2-40B4-BE49-F238E27FC236}">
                <a16:creationId xmlns:a16="http://schemas.microsoft.com/office/drawing/2014/main" id="{002FBC52-4304-641B-913C-16A72C879C67}"/>
              </a:ext>
            </a:extLst>
          </p:cNvPr>
          <p:cNvSpPr/>
          <p:nvPr/>
        </p:nvSpPr>
        <p:spPr>
          <a:xfrm>
            <a:off x="0" y="0"/>
            <a:ext cx="9144000" cy="406904"/>
          </a:xfrm>
          <a:prstGeom prst="rect">
            <a:avLst/>
          </a:prstGeom>
          <a:gradFill flip="none" rotWithShape="1">
            <a:gsLst>
              <a:gs pos="0">
                <a:srgbClr val="8BB31D"/>
              </a:gs>
              <a:gs pos="50000">
                <a:srgbClr val="72777A"/>
              </a:gs>
              <a:gs pos="100000">
                <a:srgbClr val="005A96"/>
              </a:gs>
            </a:gsLst>
            <a:lin ang="0" scaled="1"/>
            <a:tileRect/>
          </a:gradFill>
          <a:ln>
            <a:noFill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3" name="NavBar">
            <a:extLst>
              <a:ext uri="{FF2B5EF4-FFF2-40B4-BE49-F238E27FC236}">
                <a16:creationId xmlns:a16="http://schemas.microsoft.com/office/drawing/2014/main" id="{C18B60F4-A267-D193-EFB1-8C95454B6750}"/>
              </a:ext>
            </a:extLst>
          </p:cNvPr>
          <p:cNvSpPr txBox="1">
            <a:spLocks/>
          </p:cNvSpPr>
          <p:nvPr/>
        </p:nvSpPr>
        <p:spPr>
          <a:xfrm>
            <a:off x="180000" y="37163"/>
            <a:ext cx="8784000" cy="3697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Einleitung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1" dirty="0">
                <a:solidFill>
                  <a:schemeClr val="bg1"/>
                </a:solidFill>
              </a:rPr>
              <a:t>Material &amp; </a:t>
            </a:r>
            <a:r>
              <a:rPr lang="en-US" sz="2000" b="1" dirty="0" err="1">
                <a:solidFill>
                  <a:schemeClr val="bg1"/>
                </a:solidFill>
              </a:rPr>
              <a:t>Methoden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0" dirty="0" err="1">
                <a:solidFill>
                  <a:schemeClr val="bg1"/>
                </a:solidFill>
              </a:rPr>
              <a:t>Ergebnisse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0" dirty="0" err="1">
                <a:solidFill>
                  <a:schemeClr val="bg1"/>
                </a:solidFill>
              </a:rPr>
              <a:t>Diskussion</a:t>
            </a:r>
            <a:endParaRPr lang="en-US" sz="2000" b="0" dirty="0">
              <a:solidFill>
                <a:schemeClr val="bg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721B7BD-3109-F1AD-5F47-608A4D2F26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56" b="16442"/>
          <a:stretch>
            <a:fillRect/>
          </a:stretch>
        </p:blipFill>
        <p:spPr>
          <a:xfrm>
            <a:off x="423884" y="930000"/>
            <a:ext cx="8287552" cy="3765218"/>
          </a:xfrm>
          <a:prstGeom prst="rect">
            <a:avLst/>
          </a:prstGeom>
        </p:spPr>
      </p:pic>
      <p:sp>
        <p:nvSpPr>
          <p:cNvPr id="10" name="block_hmi">
            <a:extLst>
              <a:ext uri="{FF2B5EF4-FFF2-40B4-BE49-F238E27FC236}">
                <a16:creationId xmlns:a16="http://schemas.microsoft.com/office/drawing/2014/main" id="{4DF04A33-6EE6-EBB8-2E69-022397A8C72E}"/>
              </a:ext>
            </a:extLst>
          </p:cNvPr>
          <p:cNvSpPr/>
          <p:nvPr/>
        </p:nvSpPr>
        <p:spPr>
          <a:xfrm>
            <a:off x="750040" y="3137374"/>
            <a:ext cx="1340368" cy="282980"/>
          </a:xfrm>
          <a:prstGeom prst="roundRect">
            <a:avLst/>
          </a:prstGeom>
          <a:solidFill>
            <a:srgbClr val="DCD2FF"/>
          </a:solidFill>
          <a:ln w="17780">
            <a:solidFill>
              <a:srgbClr val="4E4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de-DE" sz="1200" b="1" dirty="0">
                <a:solidFill>
                  <a:srgbClr val="0060A0"/>
                </a:solidFill>
              </a:rPr>
              <a:t>Förderband 2</a:t>
            </a:r>
            <a:endParaRPr lang="de-DE" sz="1200" dirty="0">
              <a:solidFill>
                <a:srgbClr val="0060A0"/>
              </a:solidFill>
            </a:endParaRPr>
          </a:p>
        </p:txBody>
      </p:sp>
      <p:sp>
        <p:nvSpPr>
          <p:cNvPr id="11" name="block_hmi">
            <a:extLst>
              <a:ext uri="{FF2B5EF4-FFF2-40B4-BE49-F238E27FC236}">
                <a16:creationId xmlns:a16="http://schemas.microsoft.com/office/drawing/2014/main" id="{C258990C-1021-DC84-E5CC-01C1C238FCD9}"/>
              </a:ext>
            </a:extLst>
          </p:cNvPr>
          <p:cNvSpPr/>
          <p:nvPr/>
        </p:nvSpPr>
        <p:spPr>
          <a:xfrm>
            <a:off x="2090408" y="1278006"/>
            <a:ext cx="1026924" cy="2829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7780">
            <a:solidFill>
              <a:srgbClr val="8BB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de-DE" sz="1200" b="1" dirty="0">
                <a:solidFill>
                  <a:srgbClr val="0060A0"/>
                </a:solidFill>
              </a:rPr>
              <a:t>SCARA</a:t>
            </a:r>
            <a:endParaRPr lang="de-DE" sz="1200" dirty="0">
              <a:solidFill>
                <a:srgbClr val="0060A0"/>
              </a:solidFill>
            </a:endParaRPr>
          </a:p>
        </p:txBody>
      </p:sp>
      <p:sp>
        <p:nvSpPr>
          <p:cNvPr id="12" name="block_hmi">
            <a:extLst>
              <a:ext uri="{FF2B5EF4-FFF2-40B4-BE49-F238E27FC236}">
                <a16:creationId xmlns:a16="http://schemas.microsoft.com/office/drawing/2014/main" id="{4B17D24F-4F7F-0719-CDFF-592D2222B5E2}"/>
              </a:ext>
            </a:extLst>
          </p:cNvPr>
          <p:cNvSpPr/>
          <p:nvPr/>
        </p:nvSpPr>
        <p:spPr>
          <a:xfrm>
            <a:off x="5518568" y="1962775"/>
            <a:ext cx="1521850" cy="28297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7780">
            <a:solidFill>
              <a:srgbClr val="8BB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de-DE" sz="1200" b="1" dirty="0">
                <a:solidFill>
                  <a:srgbClr val="0060A0"/>
                </a:solidFill>
              </a:rPr>
              <a:t>6-Achs-Knickarm</a:t>
            </a:r>
            <a:endParaRPr lang="de-DE" sz="1200" dirty="0">
              <a:solidFill>
                <a:srgbClr val="0060A0"/>
              </a:solidFill>
            </a:endParaRPr>
          </a:p>
        </p:txBody>
      </p:sp>
      <p:sp>
        <p:nvSpPr>
          <p:cNvPr id="13" name="block_hmi">
            <a:extLst>
              <a:ext uri="{FF2B5EF4-FFF2-40B4-BE49-F238E27FC236}">
                <a16:creationId xmlns:a16="http://schemas.microsoft.com/office/drawing/2014/main" id="{F8C8CC2D-0AF3-0F82-4301-E2716B872E6A}"/>
              </a:ext>
            </a:extLst>
          </p:cNvPr>
          <p:cNvSpPr/>
          <p:nvPr/>
        </p:nvSpPr>
        <p:spPr>
          <a:xfrm>
            <a:off x="6804660" y="3221224"/>
            <a:ext cx="1137112" cy="282980"/>
          </a:xfrm>
          <a:prstGeom prst="roundRect">
            <a:avLst/>
          </a:prstGeom>
          <a:solidFill>
            <a:srgbClr val="FFBECA"/>
          </a:solidFill>
          <a:ln w="1778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de-DE" sz="1200" b="1" dirty="0">
                <a:solidFill>
                  <a:srgbClr val="0060A0"/>
                </a:solidFill>
              </a:rPr>
              <a:t>Schutzzaun</a:t>
            </a:r>
            <a:endParaRPr lang="de-DE" sz="1200" dirty="0">
              <a:solidFill>
                <a:srgbClr val="0060A0"/>
              </a:solidFill>
            </a:endParaRPr>
          </a:p>
        </p:txBody>
      </p:sp>
      <p:sp>
        <p:nvSpPr>
          <p:cNvPr id="14" name="block_hmi">
            <a:extLst>
              <a:ext uri="{FF2B5EF4-FFF2-40B4-BE49-F238E27FC236}">
                <a16:creationId xmlns:a16="http://schemas.microsoft.com/office/drawing/2014/main" id="{2099F0DB-ED75-2521-EE66-F6F04EC9C222}"/>
              </a:ext>
            </a:extLst>
          </p:cNvPr>
          <p:cNvSpPr/>
          <p:nvPr/>
        </p:nvSpPr>
        <p:spPr>
          <a:xfrm>
            <a:off x="6017334" y="3772197"/>
            <a:ext cx="856612" cy="282979"/>
          </a:xfrm>
          <a:prstGeom prst="roundRect">
            <a:avLst/>
          </a:prstGeom>
          <a:solidFill>
            <a:srgbClr val="FFBECA"/>
          </a:solidFill>
          <a:ln w="1778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de-DE" sz="1200" b="1" dirty="0">
                <a:solidFill>
                  <a:srgbClr val="0060A0"/>
                </a:solidFill>
              </a:rPr>
              <a:t>Tür</a:t>
            </a:r>
            <a:endParaRPr lang="de-DE" sz="1200" dirty="0">
              <a:solidFill>
                <a:srgbClr val="0060A0"/>
              </a:solidFill>
            </a:endParaRPr>
          </a:p>
        </p:txBody>
      </p:sp>
      <p:sp>
        <p:nvSpPr>
          <p:cNvPr id="15" name="block_hmi">
            <a:extLst>
              <a:ext uri="{FF2B5EF4-FFF2-40B4-BE49-F238E27FC236}">
                <a16:creationId xmlns:a16="http://schemas.microsoft.com/office/drawing/2014/main" id="{9A405C40-971A-8EA4-40EE-6C5DCF3BCFB7}"/>
              </a:ext>
            </a:extLst>
          </p:cNvPr>
          <p:cNvSpPr/>
          <p:nvPr/>
        </p:nvSpPr>
        <p:spPr>
          <a:xfrm>
            <a:off x="2916146" y="2720437"/>
            <a:ext cx="1445608" cy="28298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7780">
            <a:solidFill>
              <a:srgbClr val="00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de-DE" sz="1200" b="1" dirty="0">
                <a:solidFill>
                  <a:srgbClr val="0060A0"/>
                </a:solidFill>
              </a:rPr>
              <a:t>Toaster-Gehäuse</a:t>
            </a:r>
            <a:endParaRPr lang="de-DE" sz="1200" dirty="0">
              <a:solidFill>
                <a:srgbClr val="0060A0"/>
              </a:solidFill>
            </a:endParaRPr>
          </a:p>
        </p:txBody>
      </p:sp>
      <p:sp>
        <p:nvSpPr>
          <p:cNvPr id="16" name="block_hmi">
            <a:extLst>
              <a:ext uri="{FF2B5EF4-FFF2-40B4-BE49-F238E27FC236}">
                <a16:creationId xmlns:a16="http://schemas.microsoft.com/office/drawing/2014/main" id="{3928024D-3CE7-FEF0-822A-BE08D4F6E301}"/>
              </a:ext>
            </a:extLst>
          </p:cNvPr>
          <p:cNvSpPr/>
          <p:nvPr/>
        </p:nvSpPr>
        <p:spPr>
          <a:xfrm>
            <a:off x="2037776" y="2193666"/>
            <a:ext cx="1866900" cy="39571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7780">
            <a:solidFill>
              <a:srgbClr val="00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de-DE" sz="1200" b="1" dirty="0">
                <a:solidFill>
                  <a:srgbClr val="0060A0"/>
                </a:solidFill>
              </a:rPr>
              <a:t>Toaster- Innen </a:t>
            </a:r>
            <a:br>
              <a:rPr lang="de-DE" sz="1200" b="1" dirty="0">
                <a:solidFill>
                  <a:srgbClr val="0060A0"/>
                </a:solidFill>
              </a:rPr>
            </a:br>
            <a:r>
              <a:rPr lang="de-DE" sz="1200" b="1" dirty="0">
                <a:solidFill>
                  <a:srgbClr val="0060A0"/>
                </a:solidFill>
              </a:rPr>
              <a:t>inkl. Schrauben</a:t>
            </a:r>
            <a:endParaRPr lang="de-DE" sz="1200" dirty="0">
              <a:solidFill>
                <a:srgbClr val="0060A0"/>
              </a:solidFill>
            </a:endParaRPr>
          </a:p>
        </p:txBody>
      </p:sp>
      <p:sp>
        <p:nvSpPr>
          <p:cNvPr id="17" name="block_hmi">
            <a:extLst>
              <a:ext uri="{FF2B5EF4-FFF2-40B4-BE49-F238E27FC236}">
                <a16:creationId xmlns:a16="http://schemas.microsoft.com/office/drawing/2014/main" id="{6A4CBC12-5275-AAE2-60C8-A871990C5A3E}"/>
              </a:ext>
            </a:extLst>
          </p:cNvPr>
          <p:cNvSpPr/>
          <p:nvPr/>
        </p:nvSpPr>
        <p:spPr>
          <a:xfrm>
            <a:off x="4311050" y="1316834"/>
            <a:ext cx="1445608" cy="282980"/>
          </a:xfrm>
          <a:prstGeom prst="roundRect">
            <a:avLst/>
          </a:prstGeom>
          <a:solidFill>
            <a:srgbClr val="DCD2FF"/>
          </a:solidFill>
          <a:ln w="17780">
            <a:solidFill>
              <a:srgbClr val="4E4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de-DE" sz="1200" b="1" dirty="0">
                <a:solidFill>
                  <a:srgbClr val="0060A0"/>
                </a:solidFill>
              </a:rPr>
              <a:t>Fixiereinheit</a:t>
            </a:r>
            <a:endParaRPr lang="de-DE" sz="1200" dirty="0">
              <a:solidFill>
                <a:srgbClr val="0060A0"/>
              </a:solidFill>
            </a:endParaRPr>
          </a:p>
        </p:txBody>
      </p:sp>
      <p:sp>
        <p:nvSpPr>
          <p:cNvPr id="18" name="block_hmi">
            <a:extLst>
              <a:ext uri="{FF2B5EF4-FFF2-40B4-BE49-F238E27FC236}">
                <a16:creationId xmlns:a16="http://schemas.microsoft.com/office/drawing/2014/main" id="{A9F4457A-3E64-C0D1-E05A-DD0456A73E74}"/>
              </a:ext>
            </a:extLst>
          </p:cNvPr>
          <p:cNvSpPr/>
          <p:nvPr/>
        </p:nvSpPr>
        <p:spPr>
          <a:xfrm>
            <a:off x="750040" y="3913687"/>
            <a:ext cx="1340368" cy="282980"/>
          </a:xfrm>
          <a:prstGeom prst="roundRect">
            <a:avLst/>
          </a:prstGeom>
          <a:solidFill>
            <a:srgbClr val="DCD2FF"/>
          </a:solidFill>
          <a:ln w="17780">
            <a:solidFill>
              <a:srgbClr val="4E4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de-DE" sz="1200" b="1" dirty="0">
                <a:solidFill>
                  <a:srgbClr val="0060A0"/>
                </a:solidFill>
              </a:rPr>
              <a:t>Förderband 1</a:t>
            </a:r>
            <a:endParaRPr lang="de-DE" sz="1200" dirty="0">
              <a:solidFill>
                <a:srgbClr val="0060A0"/>
              </a:solidFill>
            </a:endParaRPr>
          </a:p>
        </p:txBody>
      </p:sp>
      <p:sp>
        <p:nvSpPr>
          <p:cNvPr id="20" name="block_hmi">
            <a:extLst>
              <a:ext uri="{FF2B5EF4-FFF2-40B4-BE49-F238E27FC236}">
                <a16:creationId xmlns:a16="http://schemas.microsoft.com/office/drawing/2014/main" id="{80F67813-9734-A39E-120D-F8D8F02BE350}"/>
              </a:ext>
            </a:extLst>
          </p:cNvPr>
          <p:cNvSpPr/>
          <p:nvPr/>
        </p:nvSpPr>
        <p:spPr>
          <a:xfrm>
            <a:off x="6817820" y="1194528"/>
            <a:ext cx="1340368" cy="282980"/>
          </a:xfrm>
          <a:prstGeom prst="roundRect">
            <a:avLst/>
          </a:prstGeom>
          <a:solidFill>
            <a:srgbClr val="DCD2FF"/>
          </a:solidFill>
          <a:ln w="17780">
            <a:solidFill>
              <a:srgbClr val="4E4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de-DE" sz="1200" b="1" dirty="0">
                <a:solidFill>
                  <a:srgbClr val="0060A0"/>
                </a:solidFill>
              </a:rPr>
              <a:t>Förderband 3</a:t>
            </a:r>
            <a:endParaRPr lang="de-DE" sz="1200" dirty="0">
              <a:solidFill>
                <a:srgbClr val="0060A0"/>
              </a:solidFill>
            </a:endParaRP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30F176DD-7B70-DC27-09C7-53399B85D15E}"/>
              </a:ext>
            </a:extLst>
          </p:cNvPr>
          <p:cNvCxnSpPr>
            <a:stCxn id="11" idx="3"/>
          </p:cNvCxnSpPr>
          <p:nvPr/>
        </p:nvCxnSpPr>
        <p:spPr>
          <a:xfrm>
            <a:off x="3117332" y="1419496"/>
            <a:ext cx="233872" cy="0"/>
          </a:xfrm>
          <a:prstGeom prst="straightConnector1">
            <a:avLst/>
          </a:prstGeom>
          <a:ln w="31750">
            <a:solidFill>
              <a:srgbClr val="8BB3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69F59BC-E8A6-C15D-2CC9-F9B3C2DAECFE}"/>
              </a:ext>
            </a:extLst>
          </p:cNvPr>
          <p:cNvCxnSpPr>
            <a:cxnSpLocks/>
          </p:cNvCxnSpPr>
          <p:nvPr/>
        </p:nvCxnSpPr>
        <p:spPr>
          <a:xfrm flipH="1">
            <a:off x="5257892" y="2106440"/>
            <a:ext cx="260676" cy="0"/>
          </a:xfrm>
          <a:prstGeom prst="straightConnector1">
            <a:avLst/>
          </a:prstGeom>
          <a:ln w="31750">
            <a:solidFill>
              <a:srgbClr val="8BB3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648DFD4F-5312-9738-7F32-7BD6FBFE6121}"/>
              </a:ext>
            </a:extLst>
          </p:cNvPr>
          <p:cNvCxnSpPr>
            <a:cxnSpLocks/>
          </p:cNvCxnSpPr>
          <p:nvPr/>
        </p:nvCxnSpPr>
        <p:spPr>
          <a:xfrm>
            <a:off x="4508404" y="1599814"/>
            <a:ext cx="0" cy="362961"/>
          </a:xfrm>
          <a:prstGeom prst="straightConnector1">
            <a:avLst/>
          </a:prstGeom>
          <a:ln w="31750">
            <a:solidFill>
              <a:srgbClr val="4E45B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47564430-A029-3DED-AD0C-4A79A61D6AF8}"/>
              </a:ext>
            </a:extLst>
          </p:cNvPr>
          <p:cNvCxnSpPr>
            <a:cxnSpLocks/>
          </p:cNvCxnSpPr>
          <p:nvPr/>
        </p:nvCxnSpPr>
        <p:spPr>
          <a:xfrm flipH="1">
            <a:off x="6598920" y="1336018"/>
            <a:ext cx="205740" cy="0"/>
          </a:xfrm>
          <a:prstGeom prst="straightConnector1">
            <a:avLst/>
          </a:prstGeom>
          <a:ln w="31750">
            <a:solidFill>
              <a:srgbClr val="4E45B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22DE49F0-AF1B-6E44-929B-D4FBB0368A2D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090408" y="3278864"/>
            <a:ext cx="225364" cy="0"/>
          </a:xfrm>
          <a:prstGeom prst="straightConnector1">
            <a:avLst/>
          </a:prstGeom>
          <a:ln w="31750">
            <a:solidFill>
              <a:srgbClr val="4E45B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9525B2F3-F1E0-C6D1-0EF8-CDC6D2A9E473}"/>
              </a:ext>
            </a:extLst>
          </p:cNvPr>
          <p:cNvCxnSpPr>
            <a:cxnSpLocks/>
          </p:cNvCxnSpPr>
          <p:nvPr/>
        </p:nvCxnSpPr>
        <p:spPr>
          <a:xfrm>
            <a:off x="2090408" y="4055177"/>
            <a:ext cx="225364" cy="0"/>
          </a:xfrm>
          <a:prstGeom prst="straightConnector1">
            <a:avLst/>
          </a:prstGeom>
          <a:ln w="31750">
            <a:solidFill>
              <a:srgbClr val="4E45B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C18E50DD-1544-6B09-6277-C956BF2825B7}"/>
              </a:ext>
            </a:extLst>
          </p:cNvPr>
          <p:cNvCxnSpPr>
            <a:cxnSpLocks/>
          </p:cNvCxnSpPr>
          <p:nvPr/>
        </p:nvCxnSpPr>
        <p:spPr>
          <a:xfrm>
            <a:off x="3904676" y="2387324"/>
            <a:ext cx="225364" cy="0"/>
          </a:xfrm>
          <a:prstGeom prst="straightConnector1">
            <a:avLst/>
          </a:prstGeom>
          <a:ln w="31750">
            <a:solidFill>
              <a:srgbClr val="005A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95136DCD-C94D-4133-A03F-45AD1E8EFD4A}"/>
              </a:ext>
            </a:extLst>
          </p:cNvPr>
          <p:cNvCxnSpPr>
            <a:cxnSpLocks/>
          </p:cNvCxnSpPr>
          <p:nvPr/>
        </p:nvCxnSpPr>
        <p:spPr>
          <a:xfrm>
            <a:off x="4370814" y="2861927"/>
            <a:ext cx="225364" cy="0"/>
          </a:xfrm>
          <a:prstGeom prst="straightConnector1">
            <a:avLst/>
          </a:prstGeom>
          <a:ln w="31750">
            <a:solidFill>
              <a:srgbClr val="005A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BA863A3-E24B-F684-5094-8509A2BA6745}"/>
              </a:ext>
            </a:extLst>
          </p:cNvPr>
          <p:cNvCxnSpPr>
            <a:cxnSpLocks/>
          </p:cNvCxnSpPr>
          <p:nvPr/>
        </p:nvCxnSpPr>
        <p:spPr>
          <a:xfrm flipH="1">
            <a:off x="6543984" y="3362714"/>
            <a:ext cx="260676" cy="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B2938E17-7E09-AA29-03F4-BFDEB723B4B3}"/>
              </a:ext>
            </a:extLst>
          </p:cNvPr>
          <p:cNvCxnSpPr>
            <a:cxnSpLocks/>
          </p:cNvCxnSpPr>
          <p:nvPr/>
        </p:nvCxnSpPr>
        <p:spPr>
          <a:xfrm flipH="1">
            <a:off x="5756658" y="3913687"/>
            <a:ext cx="260676" cy="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ccentLine"/>
          <p:cNvSpPr/>
          <p:nvPr/>
        </p:nvSpPr>
        <p:spPr>
          <a:xfrm>
            <a:off x="0" y="378000"/>
            <a:ext cx="9144000" cy="28000"/>
          </a:xfrm>
          <a:prstGeom prst="rect">
            <a:avLst/>
          </a:prstGeom>
          <a:gradFill flip="none" rotWithShape="1">
            <a:gsLst>
              <a:gs pos="0">
                <a:srgbClr val="8BB31D"/>
              </a:gs>
              <a:gs pos="50000">
                <a:srgbClr val="72777A"/>
              </a:gs>
              <a:gs pos="100000">
                <a:srgbClr val="005A96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" name="Titel"/>
          <p:cNvSpPr>
            <a:spLocks noGrp="1"/>
          </p:cNvSpPr>
          <p:nvPr>
            <p:ph type="title"/>
          </p:nvPr>
        </p:nvSpPr>
        <p:spPr>
          <a:xfrm>
            <a:off x="180000" y="430000"/>
            <a:ext cx="8775320" cy="480000"/>
          </a:xfrm>
        </p:spPr>
        <p:txBody>
          <a:bodyPr>
            <a:normAutofit/>
          </a:bodyPr>
          <a:lstStyle/>
          <a:p>
            <a:r>
              <a:rPr lang="de-DE" sz="2400" b="1" dirty="0">
                <a:solidFill>
                  <a:srgbClr val="1A1A1A"/>
                </a:solidFill>
              </a:rPr>
              <a:t>Ablauf der Simulation</a:t>
            </a:r>
          </a:p>
        </p:txBody>
      </p:sp>
      <p:sp>
        <p:nvSpPr>
          <p:cNvPr id="4" name="Ftr"/>
          <p:cNvSpPr>
            <a:spLocks noGrp="1"/>
          </p:cNvSpPr>
          <p:nvPr>
            <p:ph type="ftr" sz="quarter" idx="12"/>
          </p:nvPr>
        </p:nvSpPr>
        <p:spPr>
          <a:xfrm>
            <a:off x="2793304" y="4812504"/>
            <a:ext cx="5674248" cy="273844"/>
          </a:xfrm>
        </p:spPr>
        <p:txBody>
          <a:bodyPr/>
          <a:lstStyle/>
          <a:p>
            <a:r>
              <a:rPr lang="de-DE" sz="1100" dirty="0">
                <a:solidFill>
                  <a:srgbClr val="888780"/>
                </a:solidFill>
              </a:rPr>
              <a:t>Automatisierte Montage eines Toasters | Rehpenn &amp; Wipp | SS2026</a:t>
            </a:r>
          </a:p>
        </p:txBody>
      </p:sp>
      <p:sp>
        <p:nvSpPr>
          <p:cNvPr id="5" name="Num"/>
          <p:cNvSpPr>
            <a:spLocks noGrp="1"/>
          </p:cNvSpPr>
          <p:nvPr>
            <p:ph type="sldNum" sz="quarter" idx="13"/>
          </p:nvPr>
        </p:nvSpPr>
        <p:spPr>
          <a:xfrm>
            <a:off x="8542066" y="4812504"/>
            <a:ext cx="485255" cy="273844"/>
          </a:xfrm>
        </p:spPr>
        <p:txBody>
          <a:bodyPr/>
          <a:lstStyle/>
          <a:p>
            <a:fld id="{00000007-0007-0007-0007-000000000007}" type="slidenum">
              <a:rPr lang="de-DE" sz="1100" smtClean="0">
                <a:solidFill>
                  <a:srgbClr val="888780"/>
                </a:solidFill>
              </a:rPr>
              <a:pPr/>
              <a:t>7</a:t>
            </a:fld>
            <a:endParaRPr lang="de-DE" sz="1100">
              <a:solidFill>
                <a:srgbClr val="888780"/>
              </a:solidFill>
            </a:endParaRPr>
          </a:p>
        </p:txBody>
      </p:sp>
      <p:sp>
        <p:nvSpPr>
          <p:cNvPr id="2" name="HeaderBar">
            <a:extLst>
              <a:ext uri="{FF2B5EF4-FFF2-40B4-BE49-F238E27FC236}">
                <a16:creationId xmlns:a16="http://schemas.microsoft.com/office/drawing/2014/main" id="{22252DEC-7538-57EA-AF15-13CF8C82CE13}"/>
              </a:ext>
            </a:extLst>
          </p:cNvPr>
          <p:cNvSpPr/>
          <p:nvPr/>
        </p:nvSpPr>
        <p:spPr>
          <a:xfrm>
            <a:off x="0" y="0"/>
            <a:ext cx="9144000" cy="406904"/>
          </a:xfrm>
          <a:prstGeom prst="rect">
            <a:avLst/>
          </a:prstGeom>
          <a:gradFill flip="none" rotWithShape="1">
            <a:gsLst>
              <a:gs pos="0">
                <a:srgbClr val="8BB31D"/>
              </a:gs>
              <a:gs pos="50000">
                <a:srgbClr val="72777A"/>
              </a:gs>
              <a:gs pos="100000">
                <a:srgbClr val="005A96"/>
              </a:gs>
            </a:gsLst>
            <a:lin ang="0" scaled="1"/>
            <a:tileRect/>
          </a:gradFill>
          <a:ln>
            <a:noFill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9" name="TitleLine">
            <a:extLst>
              <a:ext uri="{FF2B5EF4-FFF2-40B4-BE49-F238E27FC236}">
                <a16:creationId xmlns:a16="http://schemas.microsoft.com/office/drawing/2014/main" id="{5BD7FB35-D631-329E-28F8-7B431E3C5E35}"/>
              </a:ext>
            </a:extLst>
          </p:cNvPr>
          <p:cNvSpPr/>
          <p:nvPr/>
        </p:nvSpPr>
        <p:spPr>
          <a:xfrm>
            <a:off x="188680" y="924217"/>
            <a:ext cx="877532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" name="b0">
            <a:extLst>
              <a:ext uri="{FF2B5EF4-FFF2-40B4-BE49-F238E27FC236}">
                <a16:creationId xmlns:a16="http://schemas.microsoft.com/office/drawing/2014/main" id="{6B2B13B7-035A-5CE5-0780-9E9D913FE2DB}"/>
              </a:ext>
            </a:extLst>
          </p:cNvPr>
          <p:cNvSpPr/>
          <p:nvPr/>
        </p:nvSpPr>
        <p:spPr>
          <a:xfrm>
            <a:off x="884180" y="1252248"/>
            <a:ext cx="400000" cy="400000"/>
          </a:xfrm>
          <a:prstGeom prst="ellipse">
            <a:avLst/>
          </a:prstGeom>
          <a:solidFill>
            <a:srgbClr val="005A96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de-DE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h0">
            <a:extLst>
              <a:ext uri="{FF2B5EF4-FFF2-40B4-BE49-F238E27FC236}">
                <a16:creationId xmlns:a16="http://schemas.microsoft.com/office/drawing/2014/main" id="{D98F4E75-909C-12AA-DB40-CBC8C7C04D45}"/>
              </a:ext>
            </a:extLst>
          </p:cNvPr>
          <p:cNvSpPr txBox="1"/>
          <p:nvPr/>
        </p:nvSpPr>
        <p:spPr>
          <a:xfrm>
            <a:off x="188680" y="1716328"/>
            <a:ext cx="1791000" cy="520000"/>
          </a:xfrm>
          <a:prstGeom prst="roundRect">
            <a:avLst>
              <a:gd name="adj" fmla="val 5000"/>
            </a:avLst>
          </a:prstGeom>
          <a:solidFill>
            <a:srgbClr val="005A96"/>
          </a:solidFill>
          <a:ln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/>
            <a:r>
              <a:rPr lang="de-DE" sz="1200" b="1" dirty="0">
                <a:solidFill>
                  <a:srgbClr val="FFFFFF"/>
                </a:solidFill>
              </a:rPr>
              <a:t>Zuführung &amp; Positionierung</a:t>
            </a:r>
          </a:p>
        </p:txBody>
      </p:sp>
      <p:sp>
        <p:nvSpPr>
          <p:cNvPr id="12" name="bd0">
            <a:extLst>
              <a:ext uri="{FF2B5EF4-FFF2-40B4-BE49-F238E27FC236}">
                <a16:creationId xmlns:a16="http://schemas.microsoft.com/office/drawing/2014/main" id="{66400055-D163-C574-A74C-92168E4FE5AD}"/>
              </a:ext>
            </a:extLst>
          </p:cNvPr>
          <p:cNvSpPr txBox="1"/>
          <p:nvPr/>
        </p:nvSpPr>
        <p:spPr>
          <a:xfrm>
            <a:off x="188680" y="2236328"/>
            <a:ext cx="1791000" cy="1262997"/>
          </a:xfrm>
          <a:prstGeom prst="roundRect">
            <a:avLst>
              <a:gd name="adj" fmla="val 4000"/>
            </a:avLst>
          </a:prstGeom>
          <a:solidFill>
            <a:srgbClr val="E6F1FB"/>
          </a:solidFill>
          <a:ln w="19050">
            <a:solidFill>
              <a:srgbClr val="005A96"/>
            </a:solidFill>
          </a:ln>
        </p:spPr>
        <p:txBody>
          <a:bodyPr lIns="100000" tIns="120000" rIns="100000" bIns="91440" anchor="t">
            <a:normAutofit/>
          </a:bodyPr>
          <a:lstStyle/>
          <a:p>
            <a:pPr marL="114300" indent="-114300">
              <a:lnSpc>
                <a:spcPct val="130000"/>
              </a:lnSpc>
              <a:buFont typeface="Arial"/>
              <a:buChar char="•"/>
            </a:pPr>
            <a:r>
              <a:rPr lang="de-DE" sz="1200" dirty="0"/>
              <a:t>6-Achs-Arm</a:t>
            </a:r>
          </a:p>
          <a:p>
            <a:pPr marL="114300" indent="-114300">
              <a:lnSpc>
                <a:spcPct val="130000"/>
              </a:lnSpc>
              <a:buFont typeface="Arial"/>
              <a:buChar char="•"/>
            </a:pPr>
            <a:r>
              <a:rPr lang="de-DE" sz="1200" dirty="0"/>
              <a:t>greift Shell (FB1)</a:t>
            </a:r>
          </a:p>
          <a:p>
            <a:pPr marL="114300" indent="-114300">
              <a:lnSpc>
                <a:spcPct val="130000"/>
              </a:lnSpc>
              <a:buFont typeface="Arial"/>
              <a:buChar char="•"/>
            </a:pPr>
            <a:r>
              <a:rPr lang="de-DE" sz="1200" dirty="0"/>
              <a:t>Transport zur Fixiereinheit</a:t>
            </a:r>
          </a:p>
        </p:txBody>
      </p:sp>
      <p:sp>
        <p:nvSpPr>
          <p:cNvPr id="13" name="ar0">
            <a:extLst>
              <a:ext uri="{FF2B5EF4-FFF2-40B4-BE49-F238E27FC236}">
                <a16:creationId xmlns:a16="http://schemas.microsoft.com/office/drawing/2014/main" id="{34D01531-7EB5-AADF-CF2C-9CAC9B4E4688}"/>
              </a:ext>
            </a:extLst>
          </p:cNvPr>
          <p:cNvSpPr/>
          <p:nvPr/>
        </p:nvSpPr>
        <p:spPr>
          <a:xfrm>
            <a:off x="2051000" y="2614158"/>
            <a:ext cx="380000" cy="320000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C8C8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4" name="b1">
            <a:extLst>
              <a:ext uri="{FF2B5EF4-FFF2-40B4-BE49-F238E27FC236}">
                <a16:creationId xmlns:a16="http://schemas.microsoft.com/office/drawing/2014/main" id="{3A63C34A-48B2-700D-D604-B0D15A4441C4}"/>
              </a:ext>
            </a:extLst>
          </p:cNvPr>
          <p:cNvSpPr/>
          <p:nvPr/>
        </p:nvSpPr>
        <p:spPr>
          <a:xfrm>
            <a:off x="3215180" y="1252248"/>
            <a:ext cx="400000" cy="400000"/>
          </a:xfrm>
          <a:prstGeom prst="ellipse">
            <a:avLst/>
          </a:prstGeom>
          <a:solidFill>
            <a:srgbClr val="005A96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de-DE" sz="1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h1">
            <a:extLst>
              <a:ext uri="{FF2B5EF4-FFF2-40B4-BE49-F238E27FC236}">
                <a16:creationId xmlns:a16="http://schemas.microsoft.com/office/drawing/2014/main" id="{6983D645-A447-17D0-E611-682B9C8E75C1}"/>
              </a:ext>
            </a:extLst>
          </p:cNvPr>
          <p:cNvSpPr txBox="1"/>
          <p:nvPr/>
        </p:nvSpPr>
        <p:spPr>
          <a:xfrm>
            <a:off x="2519680" y="1716328"/>
            <a:ext cx="1791000" cy="520000"/>
          </a:xfrm>
          <a:prstGeom prst="roundRect">
            <a:avLst>
              <a:gd name="adj" fmla="val 5000"/>
            </a:avLst>
          </a:prstGeom>
          <a:solidFill>
            <a:srgbClr val="005A96"/>
          </a:solidFill>
          <a:ln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/>
            <a:r>
              <a:rPr lang="de-DE" sz="1200" b="1" dirty="0">
                <a:solidFill>
                  <a:srgbClr val="FFFFFF"/>
                </a:solidFill>
              </a:rPr>
              <a:t>Innenleben einsetzen</a:t>
            </a:r>
          </a:p>
        </p:txBody>
      </p:sp>
      <p:sp>
        <p:nvSpPr>
          <p:cNvPr id="16" name="bd1">
            <a:extLst>
              <a:ext uri="{FF2B5EF4-FFF2-40B4-BE49-F238E27FC236}">
                <a16:creationId xmlns:a16="http://schemas.microsoft.com/office/drawing/2014/main" id="{69A0E0B5-5F99-E6C4-43DF-FFAE2A30F62C}"/>
              </a:ext>
            </a:extLst>
          </p:cNvPr>
          <p:cNvSpPr txBox="1"/>
          <p:nvPr/>
        </p:nvSpPr>
        <p:spPr>
          <a:xfrm>
            <a:off x="2519680" y="2236328"/>
            <a:ext cx="1791000" cy="1262997"/>
          </a:xfrm>
          <a:prstGeom prst="roundRect">
            <a:avLst>
              <a:gd name="adj" fmla="val 4000"/>
            </a:avLst>
          </a:prstGeom>
          <a:solidFill>
            <a:srgbClr val="E6F1FB"/>
          </a:solidFill>
          <a:ln w="19050">
            <a:solidFill>
              <a:srgbClr val="005A96"/>
            </a:solidFill>
          </a:ln>
        </p:spPr>
        <p:txBody>
          <a:bodyPr lIns="100000" tIns="120000" rIns="100000" bIns="91440" anchor="t">
            <a:normAutofit/>
          </a:bodyPr>
          <a:lstStyle/>
          <a:p>
            <a:pPr marL="114300" indent="-114300">
              <a:lnSpc>
                <a:spcPct val="130000"/>
              </a:lnSpc>
              <a:buFont typeface="Arial"/>
              <a:buChar char="•"/>
            </a:pPr>
            <a:r>
              <a:rPr lang="de-DE" sz="1200" dirty="0"/>
              <a:t>6-Achs-Arm</a:t>
            </a:r>
          </a:p>
          <a:p>
            <a:pPr marL="114300" indent="-114300">
              <a:lnSpc>
                <a:spcPct val="130000"/>
              </a:lnSpc>
              <a:buFont typeface="Arial"/>
              <a:buChar char="•"/>
            </a:pPr>
            <a:r>
              <a:rPr lang="de-DE" sz="1200" dirty="0"/>
              <a:t>greift Innen (FB2)</a:t>
            </a:r>
          </a:p>
          <a:p>
            <a:pPr marL="114300" indent="-114300">
              <a:lnSpc>
                <a:spcPct val="130000"/>
              </a:lnSpc>
              <a:buFont typeface="Arial"/>
              <a:buChar char="•"/>
            </a:pPr>
            <a:r>
              <a:rPr lang="de-DE" sz="1200" dirty="0"/>
              <a:t>Einsetzen in die Shell</a:t>
            </a:r>
          </a:p>
        </p:txBody>
      </p:sp>
      <p:sp>
        <p:nvSpPr>
          <p:cNvPr id="17" name="ar1">
            <a:extLst>
              <a:ext uri="{FF2B5EF4-FFF2-40B4-BE49-F238E27FC236}">
                <a16:creationId xmlns:a16="http://schemas.microsoft.com/office/drawing/2014/main" id="{D5DFFAE7-9ED8-99DE-AA50-C024B7CD80A2}"/>
              </a:ext>
            </a:extLst>
          </p:cNvPr>
          <p:cNvSpPr/>
          <p:nvPr/>
        </p:nvSpPr>
        <p:spPr>
          <a:xfrm>
            <a:off x="4382000" y="2614158"/>
            <a:ext cx="380000" cy="320000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C8C8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8" name="b2">
            <a:extLst>
              <a:ext uri="{FF2B5EF4-FFF2-40B4-BE49-F238E27FC236}">
                <a16:creationId xmlns:a16="http://schemas.microsoft.com/office/drawing/2014/main" id="{56786925-B259-C59F-D604-D9F2448D37A0}"/>
              </a:ext>
            </a:extLst>
          </p:cNvPr>
          <p:cNvSpPr/>
          <p:nvPr/>
        </p:nvSpPr>
        <p:spPr>
          <a:xfrm>
            <a:off x="5546180" y="1252248"/>
            <a:ext cx="400000" cy="400000"/>
          </a:xfrm>
          <a:prstGeom prst="ellipse">
            <a:avLst/>
          </a:prstGeom>
          <a:solidFill>
            <a:srgbClr val="8BB31D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de-DE" sz="1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h2">
            <a:extLst>
              <a:ext uri="{FF2B5EF4-FFF2-40B4-BE49-F238E27FC236}">
                <a16:creationId xmlns:a16="http://schemas.microsoft.com/office/drawing/2014/main" id="{F064C5DC-6D2B-1B9C-1C4F-5A00A733FF2D}"/>
              </a:ext>
            </a:extLst>
          </p:cNvPr>
          <p:cNvSpPr txBox="1"/>
          <p:nvPr/>
        </p:nvSpPr>
        <p:spPr>
          <a:xfrm>
            <a:off x="4850680" y="1716328"/>
            <a:ext cx="1791000" cy="520000"/>
          </a:xfrm>
          <a:prstGeom prst="roundRect">
            <a:avLst>
              <a:gd name="adj" fmla="val 5000"/>
            </a:avLst>
          </a:prstGeom>
          <a:solidFill>
            <a:srgbClr val="8BB31D"/>
          </a:solidFill>
          <a:ln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/>
            <a:r>
              <a:rPr lang="de-DE" sz="1200" b="1" dirty="0">
                <a:solidFill>
                  <a:srgbClr val="FFFFFF"/>
                </a:solidFill>
              </a:rPr>
              <a:t>4 Schrauben eindrehen</a:t>
            </a:r>
          </a:p>
        </p:txBody>
      </p:sp>
      <p:sp>
        <p:nvSpPr>
          <p:cNvPr id="23" name="bd2">
            <a:extLst>
              <a:ext uri="{FF2B5EF4-FFF2-40B4-BE49-F238E27FC236}">
                <a16:creationId xmlns:a16="http://schemas.microsoft.com/office/drawing/2014/main" id="{12628349-E947-CF88-F8BB-179640BC899F}"/>
              </a:ext>
            </a:extLst>
          </p:cNvPr>
          <p:cNvSpPr txBox="1"/>
          <p:nvPr/>
        </p:nvSpPr>
        <p:spPr>
          <a:xfrm>
            <a:off x="4850680" y="2236328"/>
            <a:ext cx="1791000" cy="1262997"/>
          </a:xfrm>
          <a:prstGeom prst="roundRect">
            <a:avLst>
              <a:gd name="adj" fmla="val 4000"/>
            </a:avLst>
          </a:prstGeom>
          <a:solidFill>
            <a:srgbClr val="EAF3DE"/>
          </a:solidFill>
          <a:ln w="19050">
            <a:solidFill>
              <a:srgbClr val="8BB31D"/>
            </a:solidFill>
          </a:ln>
        </p:spPr>
        <p:txBody>
          <a:bodyPr lIns="100000" tIns="120000" rIns="100000" bIns="91440" anchor="t">
            <a:normAutofit/>
          </a:bodyPr>
          <a:lstStyle/>
          <a:p>
            <a:pPr marL="114300" indent="-114300">
              <a:lnSpc>
                <a:spcPct val="130000"/>
              </a:lnSpc>
              <a:buFont typeface="Arial"/>
              <a:buChar char="•"/>
            </a:pPr>
            <a:r>
              <a:rPr lang="de-DE" sz="1200" dirty="0"/>
              <a:t>SCARA</a:t>
            </a:r>
          </a:p>
          <a:p>
            <a:pPr marL="114300" indent="-114300">
              <a:lnSpc>
                <a:spcPct val="130000"/>
              </a:lnSpc>
              <a:buFont typeface="Arial"/>
              <a:buChar char="•"/>
            </a:pPr>
            <a:r>
              <a:rPr lang="de-DE" sz="1200" dirty="0"/>
              <a:t>Schraube anfahren</a:t>
            </a:r>
          </a:p>
          <a:p>
            <a:pPr marL="114300" indent="-114300">
              <a:lnSpc>
                <a:spcPct val="130000"/>
              </a:lnSpc>
              <a:buFont typeface="Arial"/>
              <a:buChar char="•"/>
            </a:pPr>
            <a:r>
              <a:rPr lang="de-DE" sz="1200" dirty="0"/>
              <a:t>Einschrauben</a:t>
            </a:r>
          </a:p>
          <a:p>
            <a:pPr marL="114300" indent="-114300">
              <a:lnSpc>
                <a:spcPct val="130000"/>
              </a:lnSpc>
              <a:buFont typeface="Arial"/>
              <a:buChar char="•"/>
            </a:pPr>
            <a:r>
              <a:rPr lang="de-DE" sz="1200" dirty="0"/>
              <a:t>4x</a:t>
            </a:r>
          </a:p>
        </p:txBody>
      </p:sp>
      <p:sp>
        <p:nvSpPr>
          <p:cNvPr id="24" name="ar2">
            <a:extLst>
              <a:ext uri="{FF2B5EF4-FFF2-40B4-BE49-F238E27FC236}">
                <a16:creationId xmlns:a16="http://schemas.microsoft.com/office/drawing/2014/main" id="{4555F33B-5264-55D9-91DE-28D7F4512389}"/>
              </a:ext>
            </a:extLst>
          </p:cNvPr>
          <p:cNvSpPr/>
          <p:nvPr/>
        </p:nvSpPr>
        <p:spPr>
          <a:xfrm>
            <a:off x="6713000" y="2614158"/>
            <a:ext cx="380000" cy="320000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C8C8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5" name="b3">
            <a:extLst>
              <a:ext uri="{FF2B5EF4-FFF2-40B4-BE49-F238E27FC236}">
                <a16:creationId xmlns:a16="http://schemas.microsoft.com/office/drawing/2014/main" id="{8565BE37-404F-88BE-E9A1-0B878669AB19}"/>
              </a:ext>
            </a:extLst>
          </p:cNvPr>
          <p:cNvSpPr/>
          <p:nvPr/>
        </p:nvSpPr>
        <p:spPr>
          <a:xfrm>
            <a:off x="7877180" y="1252248"/>
            <a:ext cx="400000" cy="400000"/>
          </a:xfrm>
          <a:prstGeom prst="ellipse">
            <a:avLst/>
          </a:prstGeom>
          <a:solidFill>
            <a:srgbClr val="005A96"/>
          </a:solidFill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de-DE" sz="1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h3">
            <a:extLst>
              <a:ext uri="{FF2B5EF4-FFF2-40B4-BE49-F238E27FC236}">
                <a16:creationId xmlns:a16="http://schemas.microsoft.com/office/drawing/2014/main" id="{1C62E3D5-A9A6-C7E5-6768-F518EAEC60F5}"/>
              </a:ext>
            </a:extLst>
          </p:cNvPr>
          <p:cNvSpPr txBox="1"/>
          <p:nvPr/>
        </p:nvSpPr>
        <p:spPr>
          <a:xfrm>
            <a:off x="7181680" y="1716328"/>
            <a:ext cx="1791000" cy="520000"/>
          </a:xfrm>
          <a:prstGeom prst="roundRect">
            <a:avLst>
              <a:gd name="adj" fmla="val 5000"/>
            </a:avLst>
          </a:prstGeom>
          <a:solidFill>
            <a:srgbClr val="005A96"/>
          </a:solidFill>
          <a:ln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/>
            <a:r>
              <a:rPr lang="de-DE" sz="1200" b="1" dirty="0">
                <a:solidFill>
                  <a:srgbClr val="FFFFFF"/>
                </a:solidFill>
              </a:rPr>
              <a:t>Abtransport</a:t>
            </a:r>
          </a:p>
        </p:txBody>
      </p:sp>
      <p:sp>
        <p:nvSpPr>
          <p:cNvPr id="27" name="bd3">
            <a:extLst>
              <a:ext uri="{FF2B5EF4-FFF2-40B4-BE49-F238E27FC236}">
                <a16:creationId xmlns:a16="http://schemas.microsoft.com/office/drawing/2014/main" id="{764305C0-BE2A-13C3-25AE-D06DC2ECF679}"/>
              </a:ext>
            </a:extLst>
          </p:cNvPr>
          <p:cNvSpPr txBox="1"/>
          <p:nvPr/>
        </p:nvSpPr>
        <p:spPr>
          <a:xfrm>
            <a:off x="7181680" y="2236328"/>
            <a:ext cx="1791000" cy="1262997"/>
          </a:xfrm>
          <a:prstGeom prst="roundRect">
            <a:avLst>
              <a:gd name="adj" fmla="val 4000"/>
            </a:avLst>
          </a:prstGeom>
          <a:solidFill>
            <a:srgbClr val="E6F1FB"/>
          </a:solidFill>
          <a:ln w="19050">
            <a:solidFill>
              <a:srgbClr val="005A96"/>
            </a:solidFill>
          </a:ln>
        </p:spPr>
        <p:txBody>
          <a:bodyPr lIns="100000" tIns="120000" rIns="100000" bIns="91440" anchor="t">
            <a:normAutofit/>
          </a:bodyPr>
          <a:lstStyle/>
          <a:p>
            <a:pPr marL="114300" indent="-114300">
              <a:lnSpc>
                <a:spcPct val="130000"/>
              </a:lnSpc>
              <a:buFont typeface="Arial"/>
              <a:buChar char="•"/>
            </a:pPr>
            <a:r>
              <a:rPr lang="de-DE" sz="1200" dirty="0"/>
              <a:t>6-Achs-Arm </a:t>
            </a:r>
          </a:p>
          <a:p>
            <a:pPr marL="114300" indent="-114300">
              <a:lnSpc>
                <a:spcPct val="130000"/>
              </a:lnSpc>
              <a:buFont typeface="Arial"/>
              <a:buChar char="•"/>
            </a:pPr>
            <a:r>
              <a:rPr lang="de-DE" sz="1200" dirty="0"/>
              <a:t>Greift fertigen Toaster</a:t>
            </a:r>
          </a:p>
          <a:p>
            <a:pPr marL="114300" indent="-114300">
              <a:lnSpc>
                <a:spcPct val="130000"/>
              </a:lnSpc>
              <a:buFont typeface="Arial"/>
              <a:buChar char="•"/>
            </a:pPr>
            <a:r>
              <a:rPr lang="de-DE" sz="1200" dirty="0"/>
              <a:t>Ablegen auf FB3</a:t>
            </a:r>
          </a:p>
        </p:txBody>
      </p:sp>
      <p:sp>
        <p:nvSpPr>
          <p:cNvPr id="28" name="rl0">
            <a:extLst>
              <a:ext uri="{FF2B5EF4-FFF2-40B4-BE49-F238E27FC236}">
                <a16:creationId xmlns:a16="http://schemas.microsoft.com/office/drawing/2014/main" id="{3442F770-B7FF-0265-90D1-81871C6D40AD}"/>
              </a:ext>
            </a:extLst>
          </p:cNvPr>
          <p:cNvSpPr txBox="1"/>
          <p:nvPr/>
        </p:nvSpPr>
        <p:spPr>
          <a:xfrm>
            <a:off x="180000" y="3753331"/>
            <a:ext cx="4122000" cy="24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de-DE" sz="1100" b="1" dirty="0">
                <a:solidFill>
                  <a:srgbClr val="185FA5"/>
                </a:solidFill>
              </a:rPr>
              <a:t>6-Achs-Arm</a:t>
            </a:r>
          </a:p>
        </p:txBody>
      </p:sp>
      <p:sp>
        <p:nvSpPr>
          <p:cNvPr id="29" name="rl1">
            <a:extLst>
              <a:ext uri="{FF2B5EF4-FFF2-40B4-BE49-F238E27FC236}">
                <a16:creationId xmlns:a16="http://schemas.microsoft.com/office/drawing/2014/main" id="{0EF19407-9FD7-40F0-0F9E-D600CDF8B20B}"/>
              </a:ext>
            </a:extLst>
          </p:cNvPr>
          <p:cNvSpPr txBox="1"/>
          <p:nvPr/>
        </p:nvSpPr>
        <p:spPr>
          <a:xfrm>
            <a:off x="4842000" y="3753331"/>
            <a:ext cx="1791000" cy="24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de-DE" sz="1100" b="1" dirty="0">
                <a:solidFill>
                  <a:srgbClr val="27500A"/>
                </a:solidFill>
              </a:rPr>
              <a:t>SCARA</a:t>
            </a:r>
          </a:p>
        </p:txBody>
      </p:sp>
      <p:sp>
        <p:nvSpPr>
          <p:cNvPr id="30" name="rl2">
            <a:extLst>
              <a:ext uri="{FF2B5EF4-FFF2-40B4-BE49-F238E27FC236}">
                <a16:creationId xmlns:a16="http://schemas.microsoft.com/office/drawing/2014/main" id="{6CA547D8-68A9-9360-9F37-EE34A4BCA99E}"/>
              </a:ext>
            </a:extLst>
          </p:cNvPr>
          <p:cNvSpPr txBox="1"/>
          <p:nvPr/>
        </p:nvSpPr>
        <p:spPr>
          <a:xfrm>
            <a:off x="7173000" y="3753331"/>
            <a:ext cx="1791000" cy="24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de-DE" sz="1100" b="1" dirty="0">
                <a:solidFill>
                  <a:srgbClr val="185FA5"/>
                </a:solidFill>
              </a:rPr>
              <a:t>6-Achs-Arm</a:t>
            </a:r>
          </a:p>
        </p:txBody>
      </p:sp>
      <p:sp>
        <p:nvSpPr>
          <p:cNvPr id="7" name="NavBar">
            <a:extLst>
              <a:ext uri="{FF2B5EF4-FFF2-40B4-BE49-F238E27FC236}">
                <a16:creationId xmlns:a16="http://schemas.microsoft.com/office/drawing/2014/main" id="{578B266F-6D06-7F01-CE18-7266C847FF80}"/>
              </a:ext>
            </a:extLst>
          </p:cNvPr>
          <p:cNvSpPr txBox="1">
            <a:spLocks/>
          </p:cNvSpPr>
          <p:nvPr/>
        </p:nvSpPr>
        <p:spPr>
          <a:xfrm>
            <a:off x="180000" y="37163"/>
            <a:ext cx="8784000" cy="3697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Einleitung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dirty="0">
                <a:solidFill>
                  <a:schemeClr val="bg1"/>
                </a:solidFill>
              </a:rPr>
              <a:t>Material &amp; </a:t>
            </a:r>
            <a:r>
              <a:rPr lang="en-US" sz="2000" dirty="0" err="1">
                <a:solidFill>
                  <a:schemeClr val="bg1"/>
                </a:solidFill>
              </a:rPr>
              <a:t>Methoden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1" dirty="0" err="1">
                <a:solidFill>
                  <a:schemeClr val="bg1"/>
                </a:solidFill>
              </a:rPr>
              <a:t>Ergebnisse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0" dirty="0" err="1">
                <a:solidFill>
                  <a:schemeClr val="bg1"/>
                </a:solidFill>
              </a:rPr>
              <a:t>Diskussion</a:t>
            </a:r>
            <a:endParaRPr lang="en-US" sz="20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"/>
          <p:cNvSpPr>
            <a:spLocks noGrp="1"/>
          </p:cNvSpPr>
          <p:nvPr>
            <p:ph type="title"/>
          </p:nvPr>
        </p:nvSpPr>
        <p:spPr>
          <a:xfrm>
            <a:off x="180000" y="430000"/>
            <a:ext cx="8775320" cy="430000"/>
          </a:xfrm>
        </p:spPr>
        <p:txBody>
          <a:bodyPr>
            <a:normAutofit/>
          </a:bodyPr>
          <a:lstStyle/>
          <a:p>
            <a:r>
              <a:rPr lang="de-DE" sz="2400" b="1" dirty="0">
                <a:solidFill>
                  <a:srgbClr val="1A1A1A"/>
                </a:solidFill>
              </a:rPr>
              <a:t>Human </a:t>
            </a:r>
            <a:r>
              <a:rPr lang="de-DE" sz="2400" b="1" dirty="0" err="1">
                <a:solidFill>
                  <a:srgbClr val="1A1A1A"/>
                </a:solidFill>
              </a:rPr>
              <a:t>Machine</a:t>
            </a:r>
            <a:r>
              <a:rPr lang="de-DE" sz="2400" b="1" dirty="0">
                <a:solidFill>
                  <a:srgbClr val="1A1A1A"/>
                </a:solidFill>
              </a:rPr>
              <a:t> Interface</a:t>
            </a:r>
          </a:p>
        </p:txBody>
      </p:sp>
      <p:sp>
        <p:nvSpPr>
          <p:cNvPr id="22" name="TitleLine"/>
          <p:cNvSpPr/>
          <p:nvPr/>
        </p:nvSpPr>
        <p:spPr>
          <a:xfrm>
            <a:off x="180000" y="878000"/>
            <a:ext cx="877532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" name="Ftr"/>
          <p:cNvSpPr>
            <a:spLocks noGrp="1"/>
          </p:cNvSpPr>
          <p:nvPr>
            <p:ph type="ftr" sz="quarter" idx="12"/>
          </p:nvPr>
        </p:nvSpPr>
        <p:spPr>
          <a:xfrm>
            <a:off x="2793304" y="4812504"/>
            <a:ext cx="5674248" cy="273844"/>
          </a:xfrm>
        </p:spPr>
        <p:txBody>
          <a:bodyPr/>
          <a:lstStyle/>
          <a:p>
            <a:r>
              <a:rPr lang="de-DE" sz="1100" dirty="0">
                <a:solidFill>
                  <a:srgbClr val="888780"/>
                </a:solidFill>
              </a:rPr>
              <a:t>Automatisierte Montage eines Toasters | Rehpenn &amp; Wipp | SS2026</a:t>
            </a:r>
          </a:p>
        </p:txBody>
      </p:sp>
      <p:sp>
        <p:nvSpPr>
          <p:cNvPr id="5" name="Num"/>
          <p:cNvSpPr>
            <a:spLocks noGrp="1"/>
          </p:cNvSpPr>
          <p:nvPr>
            <p:ph type="sldNum" sz="quarter" idx="13"/>
          </p:nvPr>
        </p:nvSpPr>
        <p:spPr>
          <a:xfrm>
            <a:off x="8542066" y="4812504"/>
            <a:ext cx="485255" cy="273844"/>
          </a:xfrm>
        </p:spPr>
        <p:txBody>
          <a:bodyPr/>
          <a:lstStyle/>
          <a:p>
            <a:fld id="{00000009-0009-0009-0009-000000000009}" type="slidenum">
              <a:rPr lang="de-DE" sz="1100" smtClean="0">
                <a:solidFill>
                  <a:srgbClr val="888780"/>
                </a:solidFill>
              </a:rPr>
              <a:pPr/>
              <a:t>8</a:t>
            </a:fld>
            <a:endParaRPr lang="de-DE" sz="1100">
              <a:solidFill>
                <a:srgbClr val="888780"/>
              </a:solidFill>
            </a:endParaRPr>
          </a:p>
        </p:txBody>
      </p:sp>
      <p:sp>
        <p:nvSpPr>
          <p:cNvPr id="2" name="HeaderBar">
            <a:extLst>
              <a:ext uri="{FF2B5EF4-FFF2-40B4-BE49-F238E27FC236}">
                <a16:creationId xmlns:a16="http://schemas.microsoft.com/office/drawing/2014/main" id="{F009DEB5-F81B-F135-07CF-A12F1769FC9D}"/>
              </a:ext>
            </a:extLst>
          </p:cNvPr>
          <p:cNvSpPr/>
          <p:nvPr/>
        </p:nvSpPr>
        <p:spPr>
          <a:xfrm>
            <a:off x="0" y="0"/>
            <a:ext cx="9144000" cy="406904"/>
          </a:xfrm>
          <a:prstGeom prst="rect">
            <a:avLst/>
          </a:prstGeom>
          <a:gradFill flip="none" rotWithShape="1">
            <a:gsLst>
              <a:gs pos="0">
                <a:srgbClr val="8BB31D"/>
              </a:gs>
              <a:gs pos="50000">
                <a:srgbClr val="72777A"/>
              </a:gs>
              <a:gs pos="100000">
                <a:srgbClr val="005A96"/>
              </a:gs>
            </a:gsLst>
            <a:lin ang="0" scaled="1"/>
            <a:tileRect/>
          </a:gradFill>
          <a:ln>
            <a:noFill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NavBar">
            <a:extLst>
              <a:ext uri="{FF2B5EF4-FFF2-40B4-BE49-F238E27FC236}">
                <a16:creationId xmlns:a16="http://schemas.microsoft.com/office/drawing/2014/main" id="{328B1C07-948D-385D-DD29-AF9E9C8B342F}"/>
              </a:ext>
            </a:extLst>
          </p:cNvPr>
          <p:cNvSpPr txBox="1">
            <a:spLocks/>
          </p:cNvSpPr>
          <p:nvPr/>
        </p:nvSpPr>
        <p:spPr>
          <a:xfrm>
            <a:off x="180000" y="37163"/>
            <a:ext cx="8784000" cy="3697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Einleitung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dirty="0">
                <a:solidFill>
                  <a:schemeClr val="bg1"/>
                </a:solidFill>
              </a:rPr>
              <a:t>Material &amp; </a:t>
            </a:r>
            <a:r>
              <a:rPr lang="en-US" sz="2000" dirty="0" err="1">
                <a:solidFill>
                  <a:schemeClr val="bg1"/>
                </a:solidFill>
              </a:rPr>
              <a:t>Methoden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1" dirty="0" err="1">
                <a:solidFill>
                  <a:schemeClr val="bg1"/>
                </a:solidFill>
              </a:rPr>
              <a:t>Ergebnisse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0" dirty="0" err="1">
                <a:solidFill>
                  <a:schemeClr val="bg1"/>
                </a:solidFill>
              </a:rPr>
              <a:t>Diskussion</a:t>
            </a:r>
            <a:endParaRPr lang="en-US" sz="2000" b="0" dirty="0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D1FBA0A-61C8-07C6-2DA4-044721BCA7EB}"/>
              </a:ext>
            </a:extLst>
          </p:cNvPr>
          <p:cNvSpPr txBox="1"/>
          <p:nvPr/>
        </p:nvSpPr>
        <p:spPr>
          <a:xfrm>
            <a:off x="180000" y="907048"/>
            <a:ext cx="4578350" cy="265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de-DE" b="1" dirty="0"/>
              <a:t>Grafisches HMI  –  Dear </a:t>
            </a:r>
            <a:r>
              <a:rPr lang="de-DE" b="1" dirty="0" err="1"/>
              <a:t>ImGui</a:t>
            </a:r>
            <a:r>
              <a:rPr lang="de-DE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de-DE" dirty="0"/>
              <a:t>Echtzeit-Gelenksteuerung für Arm und SCARA</a:t>
            </a:r>
          </a:p>
          <a:p>
            <a:pPr marL="228600" indent="-228600">
              <a:lnSpc>
                <a:spcPct val="115000"/>
              </a:lnSpc>
              <a:buFont typeface="Arial"/>
              <a:buChar char="•"/>
            </a:pPr>
            <a:r>
              <a:rPr lang="de-DE" dirty="0"/>
              <a:t>TCP Translation &amp; Rotation</a:t>
            </a:r>
          </a:p>
          <a:p>
            <a:pPr marL="228600" indent="-228600">
              <a:lnSpc>
                <a:spcPct val="115000"/>
              </a:lnSpc>
              <a:buFont typeface="Arial"/>
              <a:buChar char="•"/>
            </a:pPr>
            <a:r>
              <a:rPr lang="de-DE" dirty="0"/>
              <a:t>Aktionen: Pick  |  Place  |  </a:t>
            </a:r>
            <a:r>
              <a:rPr lang="de-DE" dirty="0" err="1"/>
              <a:t>Screw</a:t>
            </a:r>
            <a:r>
              <a:rPr lang="de-DE" dirty="0"/>
              <a:t> </a:t>
            </a:r>
          </a:p>
          <a:p>
            <a:pPr marL="228600" indent="-228600">
              <a:lnSpc>
                <a:spcPct val="115000"/>
              </a:lnSpc>
              <a:buFont typeface="Arial"/>
              <a:buChar char="•"/>
            </a:pPr>
            <a:r>
              <a:rPr lang="de-DE" dirty="0"/>
              <a:t>Automatische Sequenz mit E-</a:t>
            </a:r>
            <a:r>
              <a:rPr lang="de-DE" dirty="0" err="1"/>
              <a:t>Stop</a:t>
            </a:r>
            <a:endParaRPr lang="de-DE" dirty="0"/>
          </a:p>
          <a:p>
            <a:pPr marL="228600" indent="-228600">
              <a:lnSpc>
                <a:spcPct val="115000"/>
              </a:lnSpc>
              <a:buFont typeface="Arial"/>
              <a:buChar char="•"/>
            </a:pPr>
            <a:r>
              <a:rPr lang="de-DE" dirty="0"/>
              <a:t>Pose-Bibliothek: Speichern und Laden als CSV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5D89ECC-D19D-6095-3507-C3F958BB3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350" y="454930"/>
            <a:ext cx="4284240" cy="42336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"/>
          <p:cNvSpPr>
            <a:spLocks noGrp="1"/>
          </p:cNvSpPr>
          <p:nvPr>
            <p:ph type="title"/>
          </p:nvPr>
        </p:nvSpPr>
        <p:spPr>
          <a:xfrm>
            <a:off x="180000" y="430000"/>
            <a:ext cx="8775320" cy="480000"/>
          </a:xfrm>
        </p:spPr>
        <p:txBody>
          <a:bodyPr/>
          <a:lstStyle/>
          <a:p>
            <a:r>
              <a:rPr lang="de-DE" sz="2400" b="1" dirty="0">
                <a:solidFill>
                  <a:srgbClr val="1A1A1A"/>
                </a:solidFill>
              </a:rPr>
              <a:t>Live Demo</a:t>
            </a:r>
          </a:p>
        </p:txBody>
      </p:sp>
      <p:sp>
        <p:nvSpPr>
          <p:cNvPr id="7" name="Body"/>
          <p:cNvSpPr>
            <a:spLocks noGrp="1"/>
          </p:cNvSpPr>
          <p:nvPr>
            <p:ph type="body" idx="14"/>
          </p:nvPr>
        </p:nvSpPr>
        <p:spPr>
          <a:xfrm>
            <a:off x="180001" y="1500000"/>
            <a:ext cx="8775319" cy="2000000"/>
          </a:xfrm>
        </p:spPr>
        <p:txBody>
          <a:bodyPr/>
          <a:lstStyle/>
          <a:p>
            <a:pPr algn="ctr">
              <a:buNone/>
            </a:pPr>
            <a:r>
              <a:rPr lang="de-DE" sz="2200" dirty="0">
                <a:solidFill>
                  <a:srgbClr val="555555"/>
                </a:solidFill>
              </a:rPr>
              <a:t>Backup - Video</a:t>
            </a:r>
          </a:p>
        </p:txBody>
      </p:sp>
      <p:sp>
        <p:nvSpPr>
          <p:cNvPr id="4" name="Ftr"/>
          <p:cNvSpPr>
            <a:spLocks noGrp="1"/>
          </p:cNvSpPr>
          <p:nvPr>
            <p:ph type="ftr" idx="12"/>
          </p:nvPr>
        </p:nvSpPr>
        <p:spPr>
          <a:xfrm>
            <a:off x="2793304" y="4812504"/>
            <a:ext cx="5674248" cy="273844"/>
          </a:xfrm>
        </p:spPr>
        <p:txBody>
          <a:bodyPr/>
          <a:lstStyle/>
          <a:p>
            <a:r>
              <a:rPr lang="de-DE" sz="1100" dirty="0">
                <a:solidFill>
                  <a:srgbClr val="888780"/>
                </a:solidFill>
              </a:rPr>
              <a:t>Automatisierte Montage eines Toasters | Rehpenn &amp; Wipp | SS2026</a:t>
            </a:r>
          </a:p>
        </p:txBody>
      </p:sp>
      <p:sp>
        <p:nvSpPr>
          <p:cNvPr id="2" name="HeaderBar">
            <a:extLst>
              <a:ext uri="{FF2B5EF4-FFF2-40B4-BE49-F238E27FC236}">
                <a16:creationId xmlns:a16="http://schemas.microsoft.com/office/drawing/2014/main" id="{1C9632FE-8B64-A21C-41EE-33FB30D73473}"/>
              </a:ext>
            </a:extLst>
          </p:cNvPr>
          <p:cNvSpPr/>
          <p:nvPr/>
        </p:nvSpPr>
        <p:spPr>
          <a:xfrm>
            <a:off x="0" y="0"/>
            <a:ext cx="9144000" cy="406904"/>
          </a:xfrm>
          <a:prstGeom prst="rect">
            <a:avLst/>
          </a:prstGeom>
          <a:gradFill flip="none" rotWithShape="1">
            <a:gsLst>
              <a:gs pos="0">
                <a:srgbClr val="8BB31D"/>
              </a:gs>
              <a:gs pos="50000">
                <a:srgbClr val="72777A"/>
              </a:gs>
              <a:gs pos="100000">
                <a:srgbClr val="005A96"/>
              </a:gs>
            </a:gsLst>
            <a:lin ang="0" scaled="1"/>
            <a:tileRect/>
          </a:gradFill>
          <a:ln>
            <a:noFill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3" name="NavBar">
            <a:extLst>
              <a:ext uri="{FF2B5EF4-FFF2-40B4-BE49-F238E27FC236}">
                <a16:creationId xmlns:a16="http://schemas.microsoft.com/office/drawing/2014/main" id="{9E8B1AF9-0077-FF79-E5F9-1A3789E149B0}"/>
              </a:ext>
            </a:extLst>
          </p:cNvPr>
          <p:cNvSpPr txBox="1">
            <a:spLocks/>
          </p:cNvSpPr>
          <p:nvPr/>
        </p:nvSpPr>
        <p:spPr>
          <a:xfrm>
            <a:off x="180000" y="37163"/>
            <a:ext cx="8784000" cy="3697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Einleitung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dirty="0">
                <a:solidFill>
                  <a:schemeClr val="bg1"/>
                </a:solidFill>
              </a:rPr>
              <a:t>Material &amp; </a:t>
            </a:r>
            <a:r>
              <a:rPr lang="en-US" sz="2000" dirty="0" err="1">
                <a:solidFill>
                  <a:schemeClr val="bg1"/>
                </a:solidFill>
              </a:rPr>
              <a:t>Methoden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1" dirty="0" err="1">
                <a:solidFill>
                  <a:schemeClr val="bg1"/>
                </a:solidFill>
              </a:rPr>
              <a:t>Ergebnisse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0" dirty="0" err="1">
                <a:solidFill>
                  <a:schemeClr val="bg1"/>
                </a:solidFill>
              </a:rPr>
              <a:t>Diskussion</a:t>
            </a:r>
            <a:endParaRPr lang="en-US" sz="20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ccentLine"/>
          <p:cNvSpPr/>
          <p:nvPr/>
        </p:nvSpPr>
        <p:spPr>
          <a:xfrm>
            <a:off x="0" y="378000"/>
            <a:ext cx="9144000" cy="28000"/>
          </a:xfrm>
          <a:prstGeom prst="rect">
            <a:avLst/>
          </a:prstGeom>
          <a:gradFill flip="none" rotWithShape="1">
            <a:gsLst>
              <a:gs pos="0">
                <a:srgbClr val="8BB31D"/>
              </a:gs>
              <a:gs pos="50000">
                <a:srgbClr val="72777A"/>
              </a:gs>
              <a:gs pos="100000">
                <a:srgbClr val="005A96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" name="Titel"/>
          <p:cNvSpPr>
            <a:spLocks noGrp="1"/>
          </p:cNvSpPr>
          <p:nvPr>
            <p:ph type="title"/>
          </p:nvPr>
        </p:nvSpPr>
        <p:spPr>
          <a:xfrm>
            <a:off x="180000" y="430000"/>
            <a:ext cx="8775320" cy="480000"/>
          </a:xfrm>
        </p:spPr>
        <p:txBody>
          <a:bodyPr>
            <a:normAutofit/>
          </a:bodyPr>
          <a:lstStyle/>
          <a:p>
            <a:r>
              <a:rPr lang="de-DE" sz="2400" b="1" dirty="0">
                <a:solidFill>
                  <a:srgbClr val="1A1A1A"/>
                </a:solidFill>
              </a:rPr>
              <a:t>Ausblick</a:t>
            </a:r>
          </a:p>
        </p:txBody>
      </p:sp>
      <p:sp>
        <p:nvSpPr>
          <p:cNvPr id="22" name="TitleLine"/>
          <p:cNvSpPr/>
          <p:nvPr/>
        </p:nvSpPr>
        <p:spPr>
          <a:xfrm>
            <a:off x="180000" y="930000"/>
            <a:ext cx="877532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" name="Body"/>
          <p:cNvSpPr>
            <a:spLocks noGrp="1"/>
          </p:cNvSpPr>
          <p:nvPr>
            <p:ph type="body" sz="quarter" idx="14"/>
          </p:nvPr>
        </p:nvSpPr>
        <p:spPr>
          <a:xfrm>
            <a:off x="180001" y="980000"/>
            <a:ext cx="8775319" cy="371000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de-DE" b="1" dirty="0"/>
              <a:t>Interessante nächste Schritte</a:t>
            </a:r>
          </a:p>
          <a:p>
            <a:r>
              <a:rPr lang="de-DE" sz="1600" dirty="0"/>
              <a:t>Zusätzliche Sicherheit: Lichtschranke, Not-Halt und Schutzbereichsüberwachung</a:t>
            </a:r>
          </a:p>
          <a:p>
            <a:r>
              <a:rPr lang="de-DE" sz="1600" dirty="0"/>
              <a:t>Wahrnehmung: kamerabasierte Schrauben- und Werkstückerkennung</a:t>
            </a:r>
          </a:p>
          <a:p>
            <a:r>
              <a:rPr lang="de-DE" sz="1600" dirty="0"/>
              <a:t>Robustheit: Objektverlust-Erkennung und Sensorfeedback</a:t>
            </a:r>
          </a:p>
          <a:p>
            <a:r>
              <a:rPr lang="de-DE" sz="1600" dirty="0"/>
              <a:t>HMI-Erweiterung: Taktzeit</a:t>
            </a:r>
          </a:p>
          <a:p>
            <a:r>
              <a:rPr lang="de-DE" sz="1600" dirty="0"/>
              <a:t>Sim-</a:t>
            </a:r>
            <a:r>
              <a:rPr lang="de-DE" sz="1600" dirty="0" err="1"/>
              <a:t>to</a:t>
            </a:r>
            <a:r>
              <a:rPr lang="de-DE" sz="1600" dirty="0"/>
              <a:t>-Real: Übertragung auf echte Roboterzelle</a:t>
            </a:r>
          </a:p>
          <a:p>
            <a:pPr marL="0" indent="0">
              <a:buNone/>
            </a:pPr>
            <a:endParaRPr lang="de-DE" sz="800" dirty="0"/>
          </a:p>
        </p:txBody>
      </p:sp>
      <p:sp>
        <p:nvSpPr>
          <p:cNvPr id="4" name="Ftr"/>
          <p:cNvSpPr>
            <a:spLocks noGrp="1"/>
          </p:cNvSpPr>
          <p:nvPr>
            <p:ph type="ftr" sz="quarter" idx="12"/>
          </p:nvPr>
        </p:nvSpPr>
        <p:spPr>
          <a:xfrm>
            <a:off x="2793304" y="4812504"/>
            <a:ext cx="5674248" cy="273844"/>
          </a:xfrm>
        </p:spPr>
        <p:txBody>
          <a:bodyPr/>
          <a:lstStyle/>
          <a:p>
            <a:r>
              <a:rPr lang="de-DE" sz="1100" dirty="0">
                <a:solidFill>
                  <a:srgbClr val="888780"/>
                </a:solidFill>
              </a:rPr>
              <a:t>Automatisierte Montage eines Toasters | Rehpenn &amp; Wipp | SS2026</a:t>
            </a:r>
          </a:p>
        </p:txBody>
      </p:sp>
      <p:sp>
        <p:nvSpPr>
          <p:cNvPr id="5" name="Num"/>
          <p:cNvSpPr>
            <a:spLocks noGrp="1"/>
          </p:cNvSpPr>
          <p:nvPr>
            <p:ph type="sldNum" sz="quarter" idx="13"/>
          </p:nvPr>
        </p:nvSpPr>
        <p:spPr>
          <a:xfrm>
            <a:off x="8542066" y="4812504"/>
            <a:ext cx="485255" cy="273844"/>
          </a:xfrm>
        </p:spPr>
        <p:txBody>
          <a:bodyPr/>
          <a:lstStyle/>
          <a:p>
            <a:fld id="{0000000A-000A-000A-000A-00000000000A}" type="slidenum">
              <a:rPr lang="de-DE" sz="1100" smtClean="0">
                <a:solidFill>
                  <a:srgbClr val="888780"/>
                </a:solidFill>
              </a:rPr>
              <a:pPr/>
              <a:t>10</a:t>
            </a:fld>
            <a:endParaRPr lang="de-DE" sz="1100">
              <a:solidFill>
                <a:srgbClr val="888780"/>
              </a:solidFill>
            </a:endParaRPr>
          </a:p>
        </p:txBody>
      </p:sp>
      <p:sp>
        <p:nvSpPr>
          <p:cNvPr id="2" name="HeaderBar">
            <a:extLst>
              <a:ext uri="{FF2B5EF4-FFF2-40B4-BE49-F238E27FC236}">
                <a16:creationId xmlns:a16="http://schemas.microsoft.com/office/drawing/2014/main" id="{2453E9B8-B277-43C7-860B-E33734FF5C93}"/>
              </a:ext>
            </a:extLst>
          </p:cNvPr>
          <p:cNvSpPr/>
          <p:nvPr/>
        </p:nvSpPr>
        <p:spPr>
          <a:xfrm>
            <a:off x="0" y="0"/>
            <a:ext cx="9144000" cy="406904"/>
          </a:xfrm>
          <a:prstGeom prst="rect">
            <a:avLst/>
          </a:prstGeom>
          <a:gradFill flip="none" rotWithShape="1">
            <a:gsLst>
              <a:gs pos="0">
                <a:srgbClr val="8BB31D"/>
              </a:gs>
              <a:gs pos="50000">
                <a:srgbClr val="72777A"/>
              </a:gs>
              <a:gs pos="100000">
                <a:srgbClr val="005A96"/>
              </a:gs>
            </a:gsLst>
            <a:lin ang="0" scaled="1"/>
            <a:tileRect/>
          </a:gradFill>
          <a:ln>
            <a:noFill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3" name="NavBar">
            <a:extLst>
              <a:ext uri="{FF2B5EF4-FFF2-40B4-BE49-F238E27FC236}">
                <a16:creationId xmlns:a16="http://schemas.microsoft.com/office/drawing/2014/main" id="{790ED2F6-B45E-5AAD-6053-567AE8CC06AC}"/>
              </a:ext>
            </a:extLst>
          </p:cNvPr>
          <p:cNvSpPr txBox="1">
            <a:spLocks/>
          </p:cNvSpPr>
          <p:nvPr/>
        </p:nvSpPr>
        <p:spPr>
          <a:xfrm>
            <a:off x="180000" y="37163"/>
            <a:ext cx="8784000" cy="3697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Einleitung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dirty="0">
                <a:solidFill>
                  <a:schemeClr val="bg1"/>
                </a:solidFill>
              </a:rPr>
              <a:t>Material &amp; </a:t>
            </a:r>
            <a:r>
              <a:rPr lang="en-US" sz="2000" dirty="0" err="1">
                <a:solidFill>
                  <a:schemeClr val="bg1"/>
                </a:solidFill>
              </a:rPr>
              <a:t>Methoden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dirty="0" err="1">
                <a:solidFill>
                  <a:schemeClr val="bg1"/>
                </a:solidFill>
              </a:rPr>
              <a:t>Ergebnisse</a:t>
            </a:r>
            <a:r>
              <a:rPr lang="en-US" sz="2000" b="0" spc="600" dirty="0">
                <a:solidFill>
                  <a:schemeClr val="bg1"/>
                </a:solidFill>
              </a:rPr>
              <a:t> → </a:t>
            </a:r>
            <a:r>
              <a:rPr lang="en-US" sz="2000" b="1" dirty="0" err="1">
                <a:solidFill>
                  <a:schemeClr val="bg1"/>
                </a:solidFill>
              </a:rPr>
              <a:t>Diskussion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277031-E645-FD73-A0BF-D3F01CDA3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400" dirty="0"/>
              <a:t>[1] International </a:t>
            </a:r>
            <a:r>
              <a:rPr lang="de-DE" sz="1400" dirty="0" err="1"/>
              <a:t>Federation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Robotics (IFR) (</a:t>
            </a:r>
            <a:r>
              <a:rPr lang="de-DE" sz="1400" dirty="0" err="1"/>
              <a:t>n.d</a:t>
            </a:r>
            <a:r>
              <a:rPr lang="de-DE" sz="1400" dirty="0"/>
              <a:t>.) </a:t>
            </a:r>
            <a:r>
              <a:rPr lang="de-DE" sz="1400" i="1" dirty="0"/>
              <a:t>UN </a:t>
            </a:r>
            <a:r>
              <a:rPr lang="de-DE" sz="1400" i="1" dirty="0" err="1"/>
              <a:t>Sustainable</a:t>
            </a:r>
            <a:r>
              <a:rPr lang="de-DE" sz="1400" i="1" dirty="0"/>
              <a:t> Development Goals</a:t>
            </a:r>
            <a:r>
              <a:rPr lang="de-DE" sz="1400" dirty="0"/>
              <a:t>. </a:t>
            </a:r>
            <a:r>
              <a:rPr lang="de-DE" sz="1400" dirty="0" err="1"/>
              <a:t>Available</a:t>
            </a:r>
            <a:r>
              <a:rPr lang="de-DE" sz="1400" dirty="0"/>
              <a:t> at: https://</a:t>
            </a:r>
            <a:r>
              <a:rPr lang="de-DE" sz="1400" dirty="0" err="1"/>
              <a:t>ifr.org</a:t>
            </a:r>
            <a:r>
              <a:rPr lang="de-DE" sz="1400" dirty="0"/>
              <a:t>/</a:t>
            </a:r>
            <a:r>
              <a:rPr lang="de-DE" sz="1400" dirty="0" err="1"/>
              <a:t>sustainability</a:t>
            </a:r>
            <a:r>
              <a:rPr lang="de-DE" sz="1400" dirty="0"/>
              <a:t>/sdg-17/ (</a:t>
            </a:r>
            <a:r>
              <a:rPr lang="de-DE" sz="1400" dirty="0" err="1"/>
              <a:t>Accessed</a:t>
            </a:r>
            <a:r>
              <a:rPr lang="de-DE" sz="1400" dirty="0"/>
              <a:t>: 15 June 2026).</a:t>
            </a:r>
          </a:p>
          <a:p>
            <a:pPr marL="0" indent="0">
              <a:buNone/>
            </a:pPr>
            <a:r>
              <a:rPr lang="de-DE" sz="1400" dirty="0"/>
              <a:t>[2] DEPRAG SCHULZ GMBH u. CO. KG (2026) </a:t>
            </a:r>
            <a:r>
              <a:rPr lang="de-DE" sz="1400" i="1" dirty="0" err="1"/>
              <a:t>Automated</a:t>
            </a:r>
            <a:r>
              <a:rPr lang="de-DE" sz="1400" i="1" dirty="0"/>
              <a:t> </a:t>
            </a:r>
            <a:r>
              <a:rPr lang="de-DE" sz="1400" i="1" dirty="0" err="1"/>
              <a:t>screwdriving</a:t>
            </a:r>
            <a:r>
              <a:rPr lang="de-DE" sz="1400" i="1" dirty="0"/>
              <a:t> </a:t>
            </a:r>
            <a:r>
              <a:rPr lang="de-DE" sz="1400" i="1" dirty="0" err="1"/>
              <a:t>systems</a:t>
            </a:r>
            <a:r>
              <a:rPr lang="de-DE" sz="1400" i="1" dirty="0"/>
              <a:t>: </a:t>
            </a:r>
            <a:r>
              <a:rPr lang="de-DE" sz="1400" i="1" dirty="0" err="1"/>
              <a:t>when</a:t>
            </a:r>
            <a:r>
              <a:rPr lang="de-DE" sz="1400" i="1" dirty="0"/>
              <a:t> do </a:t>
            </a:r>
            <a:r>
              <a:rPr lang="de-DE" sz="1400" i="1" dirty="0" err="1"/>
              <a:t>they</a:t>
            </a:r>
            <a:r>
              <a:rPr lang="de-DE" sz="1400" i="1" dirty="0"/>
              <a:t> </a:t>
            </a:r>
            <a:r>
              <a:rPr lang="de-DE" sz="1400" i="1" dirty="0" err="1"/>
              <a:t>really</a:t>
            </a:r>
            <a:r>
              <a:rPr lang="de-DE" sz="1400" i="1" dirty="0"/>
              <a:t> </a:t>
            </a:r>
            <a:r>
              <a:rPr lang="de-DE" sz="1400" i="1" dirty="0" err="1"/>
              <a:t>pay</a:t>
            </a:r>
            <a:r>
              <a:rPr lang="de-DE" sz="1400" i="1" dirty="0"/>
              <a:t> off?</a:t>
            </a:r>
            <a:r>
              <a:rPr lang="de-DE" sz="1400" dirty="0"/>
              <a:t> </a:t>
            </a:r>
            <a:r>
              <a:rPr lang="de-DE" sz="1400" dirty="0" err="1"/>
              <a:t>Available</a:t>
            </a:r>
            <a:r>
              <a:rPr lang="de-DE" sz="1400" dirty="0"/>
              <a:t> at: https://</a:t>
            </a:r>
            <a:r>
              <a:rPr lang="de-DE" sz="1400" dirty="0" err="1"/>
              <a:t>www.deprag.com</a:t>
            </a:r>
            <a:r>
              <a:rPr lang="de-DE" sz="1400" dirty="0"/>
              <a:t>/en/</a:t>
            </a:r>
            <a:r>
              <a:rPr lang="de-DE" sz="1400" dirty="0" err="1"/>
              <a:t>article</a:t>
            </a:r>
            <a:r>
              <a:rPr lang="de-DE" sz="1400" dirty="0"/>
              <a:t>/</a:t>
            </a:r>
            <a:r>
              <a:rPr lang="de-DE" sz="1400" dirty="0" err="1"/>
              <a:t>automated</a:t>
            </a:r>
            <a:r>
              <a:rPr lang="de-DE" sz="1400" dirty="0"/>
              <a:t>-</a:t>
            </a:r>
            <a:r>
              <a:rPr lang="de-DE" sz="1400" dirty="0" err="1"/>
              <a:t>screwdriving</a:t>
            </a:r>
            <a:r>
              <a:rPr lang="de-DE" sz="1400" dirty="0"/>
              <a:t>-systems-</a:t>
            </a:r>
            <a:r>
              <a:rPr lang="de-DE" sz="1400" dirty="0" err="1"/>
              <a:t>roi.html</a:t>
            </a:r>
            <a:r>
              <a:rPr lang="de-DE" sz="1400" dirty="0"/>
              <a:t> (</a:t>
            </a:r>
            <a:r>
              <a:rPr lang="de-DE" sz="1400" dirty="0" err="1"/>
              <a:t>Accessed</a:t>
            </a:r>
            <a:r>
              <a:rPr lang="de-DE" sz="1400" dirty="0"/>
              <a:t>: 15 June 2026).</a:t>
            </a:r>
          </a:p>
          <a:p>
            <a:pPr marL="0" indent="0">
              <a:buNone/>
            </a:pPr>
            <a:r>
              <a:rPr lang="de-DE" sz="1400" dirty="0"/>
              <a:t>[3] International </a:t>
            </a:r>
            <a:r>
              <a:rPr lang="de-DE" sz="1400" dirty="0" err="1"/>
              <a:t>Federation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Robotics (IFR) (</a:t>
            </a:r>
            <a:r>
              <a:rPr lang="de-DE" sz="1400" dirty="0" err="1"/>
              <a:t>n.d</a:t>
            </a:r>
            <a:r>
              <a:rPr lang="de-DE" sz="1400" dirty="0"/>
              <a:t>.) </a:t>
            </a:r>
            <a:r>
              <a:rPr lang="de-DE" sz="1400" i="1" dirty="0"/>
              <a:t>Industrial Robots</a:t>
            </a:r>
            <a:r>
              <a:rPr lang="de-DE" sz="1400" dirty="0"/>
              <a:t>. </a:t>
            </a:r>
            <a:r>
              <a:rPr lang="de-DE" sz="1400" dirty="0" err="1"/>
              <a:t>Available</a:t>
            </a:r>
            <a:r>
              <a:rPr lang="de-DE" sz="1400" dirty="0"/>
              <a:t> at: https://</a:t>
            </a:r>
            <a:r>
              <a:rPr lang="de-DE" sz="1400" dirty="0" err="1"/>
              <a:t>ifr.org</a:t>
            </a:r>
            <a:r>
              <a:rPr lang="de-DE" sz="1400" dirty="0"/>
              <a:t>/</a:t>
            </a:r>
            <a:r>
              <a:rPr lang="de-DE" sz="1400" dirty="0" err="1"/>
              <a:t>industrial-robots</a:t>
            </a:r>
            <a:r>
              <a:rPr lang="de-DE" sz="1400" dirty="0"/>
              <a:t> (</a:t>
            </a:r>
            <a:r>
              <a:rPr lang="de-DE" sz="1400" dirty="0" err="1"/>
              <a:t>Accessed</a:t>
            </a:r>
            <a:r>
              <a:rPr lang="de-DE" sz="1400" dirty="0"/>
              <a:t>: 15 June 2026).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0E9055E-50C6-DB3C-69B4-174C66B5B0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8C2402-90A8-EE8F-08E0-05A3F44F057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7" name="HeaderBar">
            <a:extLst>
              <a:ext uri="{FF2B5EF4-FFF2-40B4-BE49-F238E27FC236}">
                <a16:creationId xmlns:a16="http://schemas.microsoft.com/office/drawing/2014/main" id="{B5C11762-278E-960D-DCA5-3FC1F605D7B5}"/>
              </a:ext>
            </a:extLst>
          </p:cNvPr>
          <p:cNvSpPr/>
          <p:nvPr/>
        </p:nvSpPr>
        <p:spPr>
          <a:xfrm>
            <a:off x="0" y="0"/>
            <a:ext cx="9144000" cy="406904"/>
          </a:xfrm>
          <a:prstGeom prst="rect">
            <a:avLst/>
          </a:prstGeom>
          <a:gradFill flip="none" rotWithShape="1">
            <a:gsLst>
              <a:gs pos="0">
                <a:srgbClr val="8BB31D"/>
              </a:gs>
              <a:gs pos="50000">
                <a:srgbClr val="72777A"/>
              </a:gs>
              <a:gs pos="100000">
                <a:srgbClr val="005A96"/>
              </a:gs>
            </a:gsLst>
            <a:lin ang="0" scaled="1"/>
            <a:tileRect/>
          </a:gradFill>
          <a:ln>
            <a:noFill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NavBar">
            <a:extLst>
              <a:ext uri="{FF2B5EF4-FFF2-40B4-BE49-F238E27FC236}">
                <a16:creationId xmlns:a16="http://schemas.microsoft.com/office/drawing/2014/main" id="{00676827-AAA9-6868-6A98-DAB7EA0D4E41}"/>
              </a:ext>
            </a:extLst>
          </p:cNvPr>
          <p:cNvSpPr txBox="1">
            <a:spLocks/>
          </p:cNvSpPr>
          <p:nvPr/>
        </p:nvSpPr>
        <p:spPr>
          <a:xfrm>
            <a:off x="180000" y="37163"/>
            <a:ext cx="8784000" cy="3697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 dirty="0" err="1">
                <a:solidFill>
                  <a:schemeClr val="bg1"/>
                </a:solidFill>
              </a:rPr>
              <a:t>Quellen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800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2">
      <a:dk1>
        <a:sysClr val="windowText" lastClr="000000"/>
      </a:dk1>
      <a:lt1>
        <a:sysClr val="window" lastClr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2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15EC8A32-EFA0-4B0B-AC0F-1D8CF766F1E4}" vid="{CE16643F-63A4-48FC-8B61-AF37F67178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679</Words>
  <Application>Microsoft Office PowerPoint</Application>
  <PresentationFormat>Bildschirmpräsentation (16:9)</PresentationFormat>
  <Paragraphs>147</Paragraphs>
  <Slides>11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Calibri</vt:lpstr>
      <vt:lpstr>Symbol</vt:lpstr>
      <vt:lpstr>Office</vt:lpstr>
      <vt:lpstr>Automatisierte Montage eines Toasters</vt:lpstr>
      <vt:lpstr>Warum automatisierte Montage?</vt:lpstr>
      <vt:lpstr>Roboter 1 – 6-Achs-Industrieroboter</vt:lpstr>
      <vt:lpstr>Roboter 2 – SCARA-Roboter</vt:lpstr>
      <vt:lpstr>Systemarchitektur – Datenfluss</vt:lpstr>
      <vt:lpstr>Simulationsumgebung &amp; Zellenaufbau</vt:lpstr>
      <vt:lpstr>Ablauf der Simulation</vt:lpstr>
      <vt:lpstr>Human Machine Interface</vt:lpstr>
      <vt:lpstr>Live Demo</vt:lpstr>
      <vt:lpstr>Ausblick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Merle Rehpenn</dc:creator>
  <cp:lastModifiedBy>Rainhard Wipp</cp:lastModifiedBy>
  <cp:revision>63</cp:revision>
  <dcterms:created xsi:type="dcterms:W3CDTF">2026-05-27T18:31:18Z</dcterms:created>
  <dcterms:modified xsi:type="dcterms:W3CDTF">2026-06-22T13:27:18Z</dcterms:modified>
</cp:coreProperties>
</file>